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78D1FB1-DEC8-4758-A04C-3B6CE8220919}">
          <p14:sldIdLst>
            <p14:sldId id="256"/>
            <p14:sldId id="257"/>
          </p14:sldIdLst>
        </p14:section>
        <p14:section name="인기 검색어 기능" id="{1B3003A4-21EB-4783-9C7B-35AE89BC25B5}">
          <p14:sldIdLst>
            <p14:sldId id="258"/>
          </p14:sldIdLst>
        </p14:section>
        <p14:section name="인기 검색어 기능(DB 구현)" id="{F34C3E7E-F174-4D75-848E-039116FE7FB3}">
          <p14:sldIdLst>
            <p14:sldId id="259"/>
            <p14:sldId id="260"/>
          </p14:sldIdLst>
        </p14:section>
        <p14:section name="인기 검색어 기능(Redis) 구현" id="{CC4E6CDD-1419-4188-B2FD-B4B2A8C616A9}">
          <p14:sldIdLst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20DE-40A0-403A-89F0-22ADC1140088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D6-B295-431F-ACAC-375F5B78FAA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593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20DE-40A0-403A-89F0-22ADC1140088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D6-B295-431F-ACAC-375F5B78FA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883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20DE-40A0-403A-89F0-22ADC1140088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D6-B295-431F-ACAC-375F5B78FAA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166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20DE-40A0-403A-89F0-22ADC1140088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D6-B295-431F-ACAC-375F5B78FA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83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20DE-40A0-403A-89F0-22ADC1140088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D6-B295-431F-ACAC-375F5B78FA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607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20DE-40A0-403A-89F0-22ADC1140088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D6-B295-431F-ACAC-375F5B78FA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014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20DE-40A0-403A-89F0-22ADC1140088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D6-B295-431F-ACAC-375F5B78FA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710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2620DE-40A0-403A-89F0-22ADC1140088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6EC4D6-B295-431F-ACAC-375F5B78FA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63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20DE-40A0-403A-89F0-22ADC1140088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D6-B295-431F-ACAC-375F5B78FA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046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20DE-40A0-403A-89F0-22ADC1140088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D6-B295-431F-ACAC-375F5B78FA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76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20DE-40A0-403A-89F0-22ADC1140088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D6-B295-431F-ACAC-375F5B78FA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12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2620DE-40A0-403A-89F0-22ADC1140088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6EC4D6-B295-431F-ACAC-375F5B78FAA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446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47F41-920A-0968-A50E-E7C879626D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6000"/>
              <a:t>Ranking </a:t>
            </a:r>
            <a:r>
              <a:rPr lang="ko-KR" altLang="en-US" sz="6000"/>
              <a:t>시스템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D4232B-5D78-B554-987F-B94049B98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Redis</a:t>
            </a:r>
            <a:r>
              <a:rPr lang="ko-KR" altLang="en-US"/>
              <a:t>로 </a:t>
            </a:r>
            <a:r>
              <a:rPr lang="en-US" altLang="ko-KR"/>
              <a:t>Ranking </a:t>
            </a:r>
            <a:r>
              <a:rPr lang="ko-KR" altLang="en-US"/>
              <a:t>시스템 구현</a:t>
            </a:r>
          </a:p>
        </p:txBody>
      </p:sp>
    </p:spTree>
    <p:extLst>
      <p:ext uri="{BB962C8B-B14F-4D97-AF65-F5344CB8AC3E}">
        <p14:creationId xmlns:p14="http://schemas.microsoft.com/office/powerpoint/2010/main" val="143145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9F086-2637-CB7C-B7B8-22D372F35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ZSET </a:t>
            </a:r>
            <a:r>
              <a:rPr lang="ko-KR" altLang="en-US"/>
              <a:t>자료구조 확인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CA07A-3278-244A-F445-409D4AC2C7E3}"/>
              </a:ext>
            </a:extLst>
          </p:cNvPr>
          <p:cNvSpPr txBox="1"/>
          <p:nvPr/>
        </p:nvSpPr>
        <p:spPr>
          <a:xfrm>
            <a:off x="1108364" y="1893455"/>
            <a:ext cx="100491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zadd ranking:2025 5 jihoon</a:t>
            </a:r>
          </a:p>
          <a:p>
            <a:r>
              <a:rPr lang="en-US" altLang="ko-KR" sz="1400"/>
              <a:t>zadd ranking:2025 2 jaehee</a:t>
            </a:r>
          </a:p>
          <a:p>
            <a:r>
              <a:rPr lang="en-US" altLang="ko-KR" sz="1400"/>
              <a:t>zadd ranking:2025 9 halee</a:t>
            </a:r>
          </a:p>
          <a:p>
            <a:endParaRPr lang="en-US" altLang="ko-KR" sz="1400"/>
          </a:p>
          <a:p>
            <a:r>
              <a:rPr lang="en-US" altLang="ko-KR" sz="1400"/>
              <a:t>zrange ranking:2025 0 1 </a:t>
            </a:r>
            <a:r>
              <a:rPr lang="en-US" altLang="ko-KR" sz="1400">
                <a:sym typeface="Wingdings" panose="05000000000000000000" pitchFamily="2" charset="2"/>
              </a:rPr>
              <a:t> jaehee, jihoon</a:t>
            </a:r>
          </a:p>
          <a:p>
            <a:r>
              <a:rPr lang="en-US" altLang="ko-KR" sz="1400"/>
              <a:t>zrange ranking:2025 0 -1 </a:t>
            </a:r>
            <a:r>
              <a:rPr lang="en-US" altLang="ko-KR" sz="1400">
                <a:sym typeface="Wingdings" panose="05000000000000000000" pitchFamily="2" charset="2"/>
              </a:rPr>
              <a:t> jaehee, jihoon, halee</a:t>
            </a:r>
          </a:p>
          <a:p>
            <a:r>
              <a:rPr lang="en-US" altLang="ko-KR" sz="1400">
                <a:sym typeface="Wingdings" panose="05000000000000000000" pitchFamily="2" charset="2"/>
              </a:rPr>
              <a:t>zrange ranking:2025 0 1 withscores  jaehee, 2, jihoon, 5 </a:t>
            </a:r>
          </a:p>
          <a:p>
            <a:r>
              <a:rPr lang="en-US" altLang="ko-KR" sz="1400">
                <a:sym typeface="Wingdings" panose="05000000000000000000" pitchFamily="2" charset="2"/>
              </a:rPr>
              <a:t>zrange ranking:2025 0 -1 withscores rev  halee, 9, jihoon, 5, jaehee 2 </a:t>
            </a:r>
          </a:p>
          <a:p>
            <a:endParaRPr lang="en-US" altLang="ko-KR" sz="1400">
              <a:sym typeface="Wingdings" panose="05000000000000000000" pitchFamily="2" charset="2"/>
            </a:endParaRPr>
          </a:p>
          <a:p>
            <a:r>
              <a:rPr lang="en-US" altLang="ko-KR" sz="1400">
                <a:sym typeface="Wingdings" panose="05000000000000000000" pitchFamily="2" charset="2"/>
              </a:rPr>
              <a:t>zincreby ranking:2025 2 jaehee  "4"</a:t>
            </a:r>
          </a:p>
          <a:p>
            <a:r>
              <a:rPr lang="en-US" altLang="ko-KR" sz="1400">
                <a:sym typeface="Wingdings" panose="05000000000000000000" pitchFamily="2" charset="2"/>
              </a:rPr>
              <a:t>zincreby ranking:2026 7 jaesoung  "7"</a:t>
            </a:r>
          </a:p>
          <a:p>
            <a:endParaRPr lang="en-US" altLang="ko-KR" sz="140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53495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7AE51E-C262-8DE8-BD0E-DCEBCC55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DB</a:t>
            </a:r>
            <a:r>
              <a:rPr lang="ko-KR" altLang="en-US" sz="4000"/>
              <a:t>를 사용한 인기 검색어 순위 </a:t>
            </a:r>
            <a:r>
              <a:rPr lang="en-US" altLang="ko-KR" sz="4000"/>
              <a:t>- Controller</a:t>
            </a:r>
            <a:endParaRPr lang="ko-KR" altLang="en-US" sz="40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B600D5-891A-E914-6A95-8A0E4F3BE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222" y="2011441"/>
            <a:ext cx="5458587" cy="30198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20D3D3-9BE9-94B8-33ED-7BBDE732794C}"/>
              </a:ext>
            </a:extLst>
          </p:cNvPr>
          <p:cNvSpPr txBox="1"/>
          <p:nvPr/>
        </p:nvSpPr>
        <p:spPr>
          <a:xfrm>
            <a:off x="9245600" y="2011441"/>
            <a:ext cx="28170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18~21Line : </a:t>
            </a:r>
            <a:r>
              <a:rPr lang="ko-KR" altLang="en-US" sz="1200"/>
              <a:t>조회한 키워드를 </a:t>
            </a:r>
            <a:r>
              <a:rPr lang="en-US" altLang="ko-KR" sz="1200"/>
              <a:t>DB</a:t>
            </a:r>
            <a:r>
              <a:rPr lang="ko-KR" altLang="en-US" sz="1200"/>
              <a:t>에 저장</a:t>
            </a:r>
            <a:br>
              <a:rPr lang="en-US" altLang="ko-KR" sz="1200"/>
            </a:br>
            <a:r>
              <a:rPr lang="ko-KR" altLang="en-US" sz="1200"/>
              <a:t>및 </a:t>
            </a:r>
            <a:r>
              <a:rPr lang="en-US" altLang="ko-KR" sz="1200"/>
              <a:t>Count</a:t>
            </a:r>
            <a:r>
              <a:rPr lang="ko-KR" altLang="en-US" sz="1200"/>
              <a:t>수를 늘리는 </a:t>
            </a:r>
            <a:r>
              <a:rPr lang="en-US" altLang="ko-KR" sz="1200"/>
              <a:t>Url </a:t>
            </a:r>
            <a:r>
              <a:rPr lang="ko-KR" altLang="en-US" sz="1200"/>
              <a:t>요청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23~25Line : </a:t>
            </a:r>
            <a:r>
              <a:rPr lang="ko-KR" altLang="en-US" sz="1200"/>
              <a:t>가장 많이 조회된 키워드 </a:t>
            </a:r>
            <a:r>
              <a:rPr lang="en-US" altLang="ko-KR" sz="1200"/>
              <a:t>Top10</a:t>
            </a:r>
            <a:r>
              <a:rPr lang="ko-KR" altLang="en-US" sz="1200"/>
              <a:t>을 확인하는 </a:t>
            </a:r>
            <a:r>
              <a:rPr lang="en-US" altLang="ko-KR" sz="1200"/>
              <a:t>Url </a:t>
            </a:r>
            <a:r>
              <a:rPr lang="ko-KR" altLang="en-US" sz="1200"/>
              <a:t>요청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D640E35-B182-2771-1CDC-9604137B2A01}"/>
              </a:ext>
            </a:extLst>
          </p:cNvPr>
          <p:cNvGrpSpPr/>
          <p:nvPr/>
        </p:nvGrpSpPr>
        <p:grpSpPr>
          <a:xfrm>
            <a:off x="630759" y="2011441"/>
            <a:ext cx="2857899" cy="2572109"/>
            <a:chOff x="630759" y="2011441"/>
            <a:chExt cx="2857899" cy="257210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A18BF55-85DD-F027-075A-3337825D8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759" y="2011441"/>
              <a:ext cx="2857899" cy="2572109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22D7467-C580-7214-D7E9-E7B74A20257F}"/>
                </a:ext>
              </a:extLst>
            </p:cNvPr>
            <p:cNvSpPr/>
            <p:nvPr/>
          </p:nvSpPr>
          <p:spPr>
            <a:xfrm>
              <a:off x="905164" y="3509818"/>
              <a:ext cx="1533236" cy="21243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3710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38B66-B587-33AA-C928-19A542A6B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E9C2A-748C-7E59-50B9-EB13FC72A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DB</a:t>
            </a:r>
            <a:r>
              <a:rPr lang="ko-KR" altLang="en-US" sz="4000"/>
              <a:t>를 사용한 인기 검색어 순위 </a:t>
            </a:r>
            <a:r>
              <a:rPr lang="en-US" altLang="ko-KR" sz="4000"/>
              <a:t>- Service</a:t>
            </a:r>
            <a:endParaRPr lang="ko-KR" altLang="en-US" sz="40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F20279-1B5B-F2E3-B611-0791DC371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59" y="2011441"/>
            <a:ext cx="2857899" cy="25721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1893D3-7320-BCAF-8D59-F66BD9FCCA55}"/>
              </a:ext>
            </a:extLst>
          </p:cNvPr>
          <p:cNvSpPr txBox="1"/>
          <p:nvPr/>
        </p:nvSpPr>
        <p:spPr>
          <a:xfrm>
            <a:off x="9402012" y="2011441"/>
            <a:ext cx="28170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21~23Line : </a:t>
            </a:r>
            <a:r>
              <a:rPr lang="ko-KR" altLang="en-US" sz="1200"/>
              <a:t>조회한 키워드가 있으면 </a:t>
            </a:r>
            <a:r>
              <a:rPr lang="en-US" altLang="ko-KR" sz="1200"/>
              <a:t>searchKeyword</a:t>
            </a:r>
            <a:r>
              <a:rPr lang="ko-KR" altLang="en-US" sz="1200"/>
              <a:t>에 엔티티 저장</a:t>
            </a:r>
            <a:r>
              <a:rPr lang="en-US" altLang="ko-KR" sz="1200"/>
              <a:t>,</a:t>
            </a:r>
            <a:br>
              <a:rPr lang="en-US" altLang="ko-KR" sz="1200"/>
            </a:br>
            <a:r>
              <a:rPr lang="ko-KR" altLang="en-US" sz="1200"/>
              <a:t>없으면 새로운 엔티티 생성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24Line : count </a:t>
            </a:r>
            <a:r>
              <a:rPr lang="ko-KR" altLang="en-US" sz="1200"/>
              <a:t>수</a:t>
            </a:r>
            <a:r>
              <a:rPr lang="en-US" altLang="ko-KR" sz="1200"/>
              <a:t>(</a:t>
            </a:r>
            <a:r>
              <a:rPr lang="ko-KR" altLang="en-US" sz="1200"/>
              <a:t>조회 수</a:t>
            </a:r>
            <a:r>
              <a:rPr lang="en-US" altLang="ko-KR" sz="1200"/>
              <a:t>)</a:t>
            </a:r>
            <a:r>
              <a:rPr lang="ko-KR" altLang="en-US" sz="1200"/>
              <a:t> 증가</a:t>
            </a:r>
            <a:endParaRPr lang="en-US" altLang="ko-KR" sz="1200"/>
          </a:p>
          <a:p>
            <a:r>
              <a:rPr lang="en-US" altLang="ko-KR" sz="1200"/>
              <a:t>25Line : Entity Update Or Insert </a:t>
            </a:r>
            <a:br>
              <a:rPr lang="en-US" altLang="ko-KR" sz="1200"/>
            </a:br>
            <a:r>
              <a:rPr lang="en-US" altLang="ko-KR" sz="1200"/>
              <a:t>              [</a:t>
            </a:r>
            <a:r>
              <a:rPr lang="ko-KR" altLang="en-US" sz="1200"/>
              <a:t>변경감지</a:t>
            </a:r>
            <a:r>
              <a:rPr lang="en-US" altLang="ko-KR" sz="1200"/>
              <a:t>]</a:t>
            </a:r>
          </a:p>
          <a:p>
            <a:endParaRPr lang="en-US" altLang="ko-KR" sz="1200"/>
          </a:p>
          <a:p>
            <a:r>
              <a:rPr lang="en-US" altLang="ko-KR" sz="1200"/>
              <a:t>28~33Line : </a:t>
            </a:r>
            <a:r>
              <a:rPr lang="ko-KR" altLang="en-US" sz="1200"/>
              <a:t>가장 많이 조회된 키워드 </a:t>
            </a:r>
            <a:r>
              <a:rPr lang="en-US" altLang="ko-KR" sz="1200"/>
              <a:t>Top10</a:t>
            </a:r>
            <a:r>
              <a:rPr lang="ko-KR" altLang="en-US" sz="1200"/>
              <a:t>을 조회 </a:t>
            </a:r>
            <a:r>
              <a:rPr lang="en-US" altLang="ko-KR" sz="1200"/>
              <a:t>DataJPA </a:t>
            </a:r>
            <a:r>
              <a:rPr lang="ko-KR" altLang="en-US" sz="1200"/>
              <a:t>메소드 문법 사용</a:t>
            </a:r>
            <a:br>
              <a:rPr lang="en-US" altLang="ko-KR" sz="1200"/>
            </a:br>
            <a:endParaRPr lang="ko-KR" altLang="en-US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FE0536-ACFF-D108-DAE3-4C7D995C4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803" y="2011441"/>
            <a:ext cx="5780209" cy="357655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BDB7591-5680-76F4-9652-99FDDB960FF5}"/>
              </a:ext>
            </a:extLst>
          </p:cNvPr>
          <p:cNvSpPr/>
          <p:nvPr/>
        </p:nvSpPr>
        <p:spPr>
          <a:xfrm>
            <a:off x="905164" y="4119413"/>
            <a:ext cx="1533236" cy="2124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565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7D0FB-29D4-C71E-1333-7286098FA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Top 10 </a:t>
            </a:r>
            <a:r>
              <a:rPr lang="ko-KR" altLang="en-US"/>
              <a:t>키워드 </a:t>
            </a:r>
            <a:r>
              <a:rPr lang="en-US" altLang="ko-KR"/>
              <a:t>DB </a:t>
            </a:r>
            <a:r>
              <a:rPr lang="ko-KR" altLang="en-US"/>
              <a:t>구현 성능 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2196C2-A833-37BD-7263-F2FC9C774DF4}"/>
              </a:ext>
            </a:extLst>
          </p:cNvPr>
          <p:cNvSpPr txBox="1"/>
          <p:nvPr/>
        </p:nvSpPr>
        <p:spPr>
          <a:xfrm>
            <a:off x="1097280" y="18150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k6 run --summary-mode=full scripts\script_3-1.js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8352F93-1F5B-C566-B2E0-3812E9FD6E2A}"/>
              </a:ext>
            </a:extLst>
          </p:cNvPr>
          <p:cNvGrpSpPr/>
          <p:nvPr/>
        </p:nvGrpSpPr>
        <p:grpSpPr>
          <a:xfrm>
            <a:off x="4570152" y="2261986"/>
            <a:ext cx="7427884" cy="4483348"/>
            <a:chOff x="1097280" y="2261986"/>
            <a:chExt cx="7427884" cy="4483348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C2C07F0D-8E68-9355-DD3C-3C7AD53A4AF3}"/>
                </a:ext>
              </a:extLst>
            </p:cNvPr>
            <p:cNvGrpSpPr/>
            <p:nvPr/>
          </p:nvGrpSpPr>
          <p:grpSpPr>
            <a:xfrm>
              <a:off x="1097280" y="2261986"/>
              <a:ext cx="7427884" cy="4483348"/>
              <a:chOff x="1097280" y="2261986"/>
              <a:chExt cx="7427884" cy="4483348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D608E51B-4927-C455-7D11-0958FE94D6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97280" y="2261986"/>
                <a:ext cx="7427884" cy="4483348"/>
              </a:xfrm>
              <a:prstGeom prst="rect">
                <a:avLst/>
              </a:prstGeom>
            </p:spPr>
          </p:pic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EF84ECC-419F-B716-6220-DB7B004CB261}"/>
                  </a:ext>
                </a:extLst>
              </p:cNvPr>
              <p:cNvSpPr/>
              <p:nvPr/>
            </p:nvSpPr>
            <p:spPr>
              <a:xfrm>
                <a:off x="1283855" y="2576945"/>
                <a:ext cx="3121890" cy="56341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C797FD9-6D6A-4F70-7A16-C03B615946E2}"/>
                </a:ext>
              </a:extLst>
            </p:cNvPr>
            <p:cNvSpPr/>
            <p:nvPr/>
          </p:nvSpPr>
          <p:spPr>
            <a:xfrm>
              <a:off x="1283855" y="5176982"/>
              <a:ext cx="3565236" cy="1893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E517251-CC73-2D78-F950-8C8333EE4276}"/>
              </a:ext>
            </a:extLst>
          </p:cNvPr>
          <p:cNvGrpSpPr/>
          <p:nvPr/>
        </p:nvGrpSpPr>
        <p:grpSpPr>
          <a:xfrm>
            <a:off x="165851" y="2261986"/>
            <a:ext cx="4248207" cy="4596014"/>
            <a:chOff x="165851" y="2261986"/>
            <a:chExt cx="4248207" cy="4596014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E9E36BC-CEB8-F781-3D80-616868B8E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851" y="2261986"/>
              <a:ext cx="4248207" cy="4596014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724D35A-5551-5C04-8F0A-37C0D120E37E}"/>
                </a:ext>
              </a:extLst>
            </p:cNvPr>
            <p:cNvSpPr/>
            <p:nvPr/>
          </p:nvSpPr>
          <p:spPr>
            <a:xfrm>
              <a:off x="397164" y="3667454"/>
              <a:ext cx="2992581" cy="7643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B10DBA-9BFC-5D75-969B-7932BF62596F}"/>
                </a:ext>
              </a:extLst>
            </p:cNvPr>
            <p:cNvSpPr txBox="1"/>
            <p:nvPr/>
          </p:nvSpPr>
          <p:spPr>
            <a:xfrm>
              <a:off x="2189018" y="2666477"/>
              <a:ext cx="208741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>
                  <a:solidFill>
                    <a:srgbClr val="FF0000"/>
                  </a:solidFill>
                </a:rPr>
                <a:t>해당 키워드로만 부하테스트를 진행한다</a:t>
              </a:r>
              <a:r>
                <a:rPr lang="en-US" altLang="ko-KR">
                  <a:solidFill>
                    <a:srgbClr val="FF0000"/>
                  </a:solidFill>
                </a:rPr>
                <a:t>.</a:t>
              </a:r>
              <a:endParaRPr lang="ko-KR" altLang="en-US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4584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187DF-2B42-08EE-74AC-B67C3D303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Redis</a:t>
            </a:r>
            <a:r>
              <a:rPr lang="ko-KR" altLang="en-US" sz="3600"/>
              <a:t>를 사용한 인기 검색어 순위 </a:t>
            </a:r>
            <a:r>
              <a:rPr lang="en-US" altLang="ko-KR" sz="3600"/>
              <a:t>- Controller</a:t>
            </a:r>
            <a:endParaRPr lang="ko-KR" altLang="en-US" sz="36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5E501D-C186-1C76-81DB-E0E67726E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631" y="1935476"/>
            <a:ext cx="6477904" cy="1695687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40C32929-EC7A-E1E7-AFB9-3935034ADD37}"/>
              </a:ext>
            </a:extLst>
          </p:cNvPr>
          <p:cNvGrpSpPr/>
          <p:nvPr/>
        </p:nvGrpSpPr>
        <p:grpSpPr>
          <a:xfrm>
            <a:off x="1286541" y="1920349"/>
            <a:ext cx="2857899" cy="2572109"/>
            <a:chOff x="630759" y="2011441"/>
            <a:chExt cx="2857899" cy="257210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E7DC87E-EBF4-E095-C46D-597F44AB5CA1}"/>
                </a:ext>
              </a:extLst>
            </p:cNvPr>
            <p:cNvSpPr/>
            <p:nvPr/>
          </p:nvSpPr>
          <p:spPr>
            <a:xfrm>
              <a:off x="905164" y="3509818"/>
              <a:ext cx="1533236" cy="21243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EBCA7F69-9C43-35B9-C7D5-8023AE8DF184}"/>
                </a:ext>
              </a:extLst>
            </p:cNvPr>
            <p:cNvGrpSpPr/>
            <p:nvPr/>
          </p:nvGrpSpPr>
          <p:grpSpPr>
            <a:xfrm>
              <a:off x="630759" y="2011441"/>
              <a:ext cx="2857899" cy="2572109"/>
              <a:chOff x="630759" y="2011441"/>
              <a:chExt cx="2857899" cy="2572109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C53F2C25-D1CE-B743-6656-CD0EFAA77A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0759" y="2011441"/>
                <a:ext cx="2857899" cy="2572109"/>
              </a:xfrm>
              <a:prstGeom prst="rect">
                <a:avLst/>
              </a:prstGeom>
            </p:spPr>
          </p:pic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B73E348-3529-B8B5-CE97-6F3410C64CA0}"/>
                  </a:ext>
                </a:extLst>
              </p:cNvPr>
              <p:cNvSpPr/>
              <p:nvPr/>
            </p:nvSpPr>
            <p:spPr>
              <a:xfrm>
                <a:off x="905164" y="3509818"/>
                <a:ext cx="1533236" cy="21243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357A0EC-9C8F-40F1-165A-E48BAEDCD6E7}"/>
              </a:ext>
            </a:extLst>
          </p:cNvPr>
          <p:cNvSpPr txBox="1"/>
          <p:nvPr/>
        </p:nvSpPr>
        <p:spPr>
          <a:xfrm>
            <a:off x="4325631" y="3631163"/>
            <a:ext cx="6579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DB </a:t>
            </a:r>
            <a:r>
              <a:rPr lang="ko-KR" altLang="en-US" sz="1600"/>
              <a:t>인기검색어 구현랑 넘기는 값은 동일 </a:t>
            </a:r>
            <a:r>
              <a:rPr lang="en-US" altLang="ko-KR" sz="1600"/>
              <a:t>Url</a:t>
            </a:r>
            <a:r>
              <a:rPr lang="ko-KR" altLang="en-US" sz="1600"/>
              <a:t>과 메소드 명만 변경</a:t>
            </a:r>
          </a:p>
        </p:txBody>
      </p:sp>
    </p:spTree>
    <p:extLst>
      <p:ext uri="{BB962C8B-B14F-4D97-AF65-F5344CB8AC3E}">
        <p14:creationId xmlns:p14="http://schemas.microsoft.com/office/powerpoint/2010/main" val="1047408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B064A3-10A5-1895-B924-DE2495BE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Redis</a:t>
            </a:r>
            <a:r>
              <a:rPr lang="ko-KR" altLang="en-US" sz="4000"/>
              <a:t>를 사용한 인기 검색어 순위 </a:t>
            </a:r>
            <a:r>
              <a:rPr lang="en-US" altLang="ko-KR" sz="4000"/>
              <a:t>- Service</a:t>
            </a:r>
            <a:endParaRPr lang="ko-KR" altLang="en-US" sz="400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5CF1CB8-FB28-8FB2-BA32-F1018B88BB09}"/>
              </a:ext>
            </a:extLst>
          </p:cNvPr>
          <p:cNvGrpSpPr/>
          <p:nvPr/>
        </p:nvGrpSpPr>
        <p:grpSpPr>
          <a:xfrm>
            <a:off x="1097280" y="1977023"/>
            <a:ext cx="2857899" cy="2572109"/>
            <a:chOff x="630759" y="2011441"/>
            <a:chExt cx="2857899" cy="257210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6047D86-64CA-3DA2-38B9-C461D973A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0759" y="2011441"/>
              <a:ext cx="2857899" cy="2572109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5367554-514E-7E93-6A82-DF02CFC6E2F4}"/>
                </a:ext>
              </a:extLst>
            </p:cNvPr>
            <p:cNvSpPr/>
            <p:nvPr/>
          </p:nvSpPr>
          <p:spPr>
            <a:xfrm>
              <a:off x="914400" y="4119418"/>
              <a:ext cx="1274618" cy="2493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1013018-D687-B553-C11A-3F76A4040F83}"/>
              </a:ext>
            </a:extLst>
          </p:cNvPr>
          <p:cNvSpPr txBox="1"/>
          <p:nvPr/>
        </p:nvSpPr>
        <p:spPr>
          <a:xfrm>
            <a:off x="4362865" y="4749222"/>
            <a:ext cx="7598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35~39Line : 36-38 Line</a:t>
            </a:r>
            <a:r>
              <a:rPr lang="ko-KR" altLang="en-US" sz="1200"/>
              <a:t>의 </a:t>
            </a:r>
            <a:r>
              <a:rPr lang="en-US" altLang="ko-KR" sz="1200"/>
              <a:t>redisTemplate </a:t>
            </a:r>
            <a:r>
              <a:rPr lang="ko-KR" altLang="en-US" sz="1200"/>
              <a:t>메소드 동작 </a:t>
            </a:r>
            <a:r>
              <a:rPr lang="en-US" altLang="ko-KR" sz="1200"/>
              <a:t>== zincreBy search_keywords_ranking 1 {key_word}</a:t>
            </a:r>
          </a:p>
          <a:p>
            <a:r>
              <a:rPr lang="en-US" altLang="ko-KR" sz="1200"/>
              <a:t>                     </a:t>
            </a:r>
            <a:r>
              <a:rPr lang="ko-KR" altLang="en-US" sz="1200"/>
              <a:t>즉 </a:t>
            </a:r>
            <a:r>
              <a:rPr lang="en-US" altLang="ko-KR" sz="1200"/>
              <a:t>zset</a:t>
            </a:r>
            <a:r>
              <a:rPr lang="ko-KR" altLang="en-US" sz="1200"/>
              <a:t>에 </a:t>
            </a:r>
            <a:r>
              <a:rPr lang="en-US" altLang="ko-KR" sz="1200"/>
              <a:t>keyword</a:t>
            </a:r>
            <a:r>
              <a:rPr lang="ko-KR" altLang="en-US" sz="1200"/>
              <a:t>가 등록되어있지 않으면 </a:t>
            </a:r>
            <a:r>
              <a:rPr lang="en-US" altLang="ko-KR" sz="1200"/>
              <a:t>keyword</a:t>
            </a:r>
            <a:r>
              <a:rPr lang="ko-KR" altLang="en-US" sz="1200"/>
              <a:t>를 등록하며</a:t>
            </a:r>
            <a:r>
              <a:rPr lang="en-US" altLang="ko-KR" sz="1200"/>
              <a:t>, </a:t>
            </a:r>
            <a:r>
              <a:rPr lang="ko-KR" altLang="en-US" sz="1200"/>
              <a:t>점수 </a:t>
            </a:r>
            <a:r>
              <a:rPr lang="en-US" altLang="ko-KR" sz="1200"/>
              <a:t>1</a:t>
            </a:r>
            <a:r>
              <a:rPr lang="ko-KR" altLang="en-US" sz="1200"/>
              <a:t>을 할당함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         </a:t>
            </a:r>
            <a:r>
              <a:rPr lang="ko-KR" altLang="en-US" sz="1200"/>
              <a:t>등록되어 있을시 해당 키워드의 점수를 </a:t>
            </a:r>
            <a:r>
              <a:rPr lang="en-US" altLang="ko-KR" sz="1200"/>
              <a:t>1 </a:t>
            </a:r>
            <a:r>
              <a:rPr lang="ko-KR" altLang="en-US" sz="1200"/>
              <a:t>증가시킨다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41~47Lien : "search_keywords_ranking"</a:t>
            </a:r>
            <a:r>
              <a:rPr lang="ko-KR" altLang="en-US" sz="1200"/>
              <a:t>에 저장되어있는 값들을 내림차순으로 </a:t>
            </a:r>
            <a:r>
              <a:rPr lang="en-US" altLang="ko-KR" sz="1200"/>
              <a:t>Top 10 (0~9 index) </a:t>
            </a:r>
            <a:r>
              <a:rPr lang="ko-KR" altLang="en-US" sz="1200"/>
              <a:t>정보를 보여준다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D463302-5EF1-CA31-8BA6-0E27DF69F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865" y="1977023"/>
            <a:ext cx="6382641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31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BFB5B2-5B3E-8F0F-3502-D4AEFB843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Top 10 </a:t>
            </a:r>
            <a:r>
              <a:rPr lang="ko-KR" altLang="en-US"/>
              <a:t>키워드 </a:t>
            </a:r>
            <a:r>
              <a:rPr lang="en-US" altLang="ko-KR"/>
              <a:t>Redis </a:t>
            </a:r>
            <a:r>
              <a:rPr lang="ko-KR" altLang="en-US"/>
              <a:t>구현 성능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58F9DF-52A9-CFAE-6661-0A92832FF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80" y="1819563"/>
            <a:ext cx="4670160" cy="491836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E94F8F8-BEF2-7696-805A-7027C7C7A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509" y="1819563"/>
            <a:ext cx="6890503" cy="415296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FC93E3E-02DC-CBF1-D821-DABE87E69F20}"/>
              </a:ext>
            </a:extLst>
          </p:cNvPr>
          <p:cNvSpPr/>
          <p:nvPr/>
        </p:nvSpPr>
        <p:spPr>
          <a:xfrm>
            <a:off x="5246255" y="1884218"/>
            <a:ext cx="2983345" cy="8682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793C80-A9E2-AE67-6238-C8587A3CC502}"/>
              </a:ext>
            </a:extLst>
          </p:cNvPr>
          <p:cNvSpPr txBox="1"/>
          <p:nvPr/>
        </p:nvSpPr>
        <p:spPr>
          <a:xfrm>
            <a:off x="8414327" y="1976582"/>
            <a:ext cx="335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rgbClr val="FF0000"/>
                </a:solidFill>
              </a:rPr>
              <a:t>처리 건수가 </a:t>
            </a:r>
            <a:r>
              <a:rPr lang="en-US" altLang="ko-KR" sz="1400">
                <a:solidFill>
                  <a:srgbClr val="FF0000"/>
                </a:solidFill>
              </a:rPr>
              <a:t>3.5</a:t>
            </a:r>
            <a:r>
              <a:rPr lang="ko-KR" altLang="en-US" sz="1400">
                <a:solidFill>
                  <a:srgbClr val="FF0000"/>
                </a:solidFill>
              </a:rPr>
              <a:t>배정도 증가 </a:t>
            </a:r>
            <a:br>
              <a:rPr lang="en-US" altLang="ko-KR" sz="1400">
                <a:solidFill>
                  <a:srgbClr val="FF0000"/>
                </a:solidFill>
              </a:rPr>
            </a:br>
            <a:r>
              <a:rPr lang="ko-KR" altLang="en-US" sz="1400">
                <a:solidFill>
                  <a:srgbClr val="FF0000"/>
                </a:solidFill>
              </a:rPr>
              <a:t>에러율 </a:t>
            </a:r>
            <a:r>
              <a:rPr lang="en-US" altLang="ko-KR" sz="1400">
                <a:solidFill>
                  <a:srgbClr val="FF0000"/>
                </a:solidFill>
              </a:rPr>
              <a:t>0 </a:t>
            </a:r>
            <a:r>
              <a:rPr lang="ko-KR" altLang="en-US" sz="1400">
                <a:solidFill>
                  <a:srgbClr val="FF0000"/>
                </a:solidFill>
              </a:rPr>
              <a:t>달성</a:t>
            </a:r>
          </a:p>
        </p:txBody>
      </p:sp>
    </p:spTree>
    <p:extLst>
      <p:ext uri="{BB962C8B-B14F-4D97-AF65-F5344CB8AC3E}">
        <p14:creationId xmlns:p14="http://schemas.microsoft.com/office/powerpoint/2010/main" val="291678537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60</TotalTime>
  <Words>335</Words>
  <Application>Microsoft Office PowerPoint</Application>
  <PresentationFormat>와이드스크린</PresentationFormat>
  <Paragraphs>35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Wingdings</vt:lpstr>
      <vt:lpstr>추억</vt:lpstr>
      <vt:lpstr>Ranking 시스템 </vt:lpstr>
      <vt:lpstr>ZSET 자료구조 확인 </vt:lpstr>
      <vt:lpstr>DB를 사용한 인기 검색어 순위 - Controller</vt:lpstr>
      <vt:lpstr>DB를 사용한 인기 검색어 순위 - Service</vt:lpstr>
      <vt:lpstr>Top 10 키워드 DB 구현 성능 확인</vt:lpstr>
      <vt:lpstr>Redis를 사용한 인기 검색어 순위 - Controller</vt:lpstr>
      <vt:lpstr>Redis를 사용한 인기 검색어 순위 - Service</vt:lpstr>
      <vt:lpstr>Top 10 키워드 Redis 구현 성능 확인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27</cp:revision>
  <dcterms:created xsi:type="dcterms:W3CDTF">2026-08-28T12:33:52Z</dcterms:created>
  <dcterms:modified xsi:type="dcterms:W3CDTF">2026-08-28T13:34:10Z</dcterms:modified>
</cp:coreProperties>
</file>