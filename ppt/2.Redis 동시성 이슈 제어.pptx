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  <p:sldId id="263" r:id="rId9"/>
    <p:sldId id="264" r:id="rId10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5760E97-F044-4BFC-8622-72B1E0AC3408}">
          <p14:sldIdLst>
            <p14:sldId id="256"/>
            <p14:sldId id="257"/>
          </p14:sldIdLst>
        </p14:section>
        <p14:section name="동시성 이슈 확인하기" id="{8F04218C-774B-4560-9760-5265F212D33E}">
          <p14:sldIdLst>
            <p14:sldId id="259"/>
            <p14:sldId id="261"/>
            <p14:sldId id="258"/>
            <p14:sldId id="260"/>
          </p14:sldIdLst>
        </p14:section>
        <p14:section name="Redis 동시성 이슈 해결" id="{6DF1E948-C4AC-41F5-9959-788A7A95668B}">
          <p14:sldIdLst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1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70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38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6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33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99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7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98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33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24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E58BB4-765C-4990-8680-A832AD80C8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814FCC-17BF-427D-9DD7-BF51B6850AC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18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D596D-FB32-BF87-37AD-41F75AEF3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/>
              <a:t>Redis </a:t>
            </a:r>
            <a:r>
              <a:rPr lang="ko-KR" altLang="en-US" sz="6600"/>
              <a:t>동시성 이슈 제어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7F2684-9A80-42CF-A149-8C7588A8EB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재고 관리 동시성 이슈 </a:t>
            </a:r>
            <a:r>
              <a:rPr lang="en-US" altLang="ko-KR"/>
              <a:t>Redis </a:t>
            </a:r>
            <a:r>
              <a:rPr lang="ko-KR" altLang="en-US"/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34733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D32DD-FD2E-EF8B-FA6C-A28725E5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String </a:t>
            </a:r>
            <a:r>
              <a:rPr lang="ko-KR" altLang="en-US"/>
              <a:t>자료구조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63C498-58A4-5FD3-51E2-DC9C965E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271"/>
            <a:ext cx="4172532" cy="3648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2588E8-DCAB-A257-4976-DFC7240146AE}"/>
              </a:ext>
            </a:extLst>
          </p:cNvPr>
          <p:cNvSpPr txBox="1"/>
          <p:nvPr/>
        </p:nvSpPr>
        <p:spPr>
          <a:xfrm>
            <a:off x="5449455" y="1900271"/>
            <a:ext cx="60590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String </a:t>
            </a:r>
            <a:r>
              <a:rPr lang="ko-KR" altLang="en-US" sz="1400"/>
              <a:t>자료 구조 특징</a:t>
            </a:r>
            <a:endParaRPr lang="en-US" altLang="ko-KR" sz="1400"/>
          </a:p>
          <a:p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같은 </a:t>
            </a:r>
            <a:r>
              <a:rPr lang="en-US" altLang="ko-KR" sz="1400"/>
              <a:t>key </a:t>
            </a:r>
            <a:r>
              <a:rPr lang="ko-KR" altLang="en-US" sz="1400"/>
              <a:t>다른 값으로 저장한 데이터에 대해서는 덮어씌기가 이루어진다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/>
              <a:t>String </a:t>
            </a:r>
            <a:r>
              <a:rPr lang="ko-KR" altLang="en-US" sz="1400"/>
              <a:t>자료구조 저장 명령에 </a:t>
            </a:r>
            <a:r>
              <a:rPr lang="en-US" altLang="ko-KR" sz="1400"/>
              <a:t>nx </a:t>
            </a:r>
            <a:r>
              <a:rPr lang="ko-KR" altLang="en-US" sz="1400"/>
              <a:t>옵션을 추가하면 존재하는 </a:t>
            </a:r>
            <a:r>
              <a:rPr lang="en-US" altLang="ko-KR" sz="1400"/>
              <a:t>Key </a:t>
            </a:r>
            <a:r>
              <a:rPr lang="ko-KR" altLang="en-US" sz="1400"/>
              <a:t>라면</a:t>
            </a:r>
            <a:br>
              <a:rPr lang="en-US" altLang="ko-KR" sz="1400"/>
            </a:br>
            <a:r>
              <a:rPr lang="ko-KR" altLang="en-US" sz="1400"/>
              <a:t>저장하지 않고 </a:t>
            </a:r>
            <a:r>
              <a:rPr lang="en-US" altLang="ko-KR" sz="1400"/>
              <a:t>Pass </a:t>
            </a:r>
            <a:r>
              <a:rPr lang="ko-KR" altLang="en-US" sz="1400"/>
              <a:t>하며</a:t>
            </a:r>
            <a:r>
              <a:rPr lang="en-US" altLang="ko-KR" sz="1400"/>
              <a:t>, </a:t>
            </a:r>
            <a:r>
              <a:rPr lang="ko-KR" altLang="en-US" sz="1400"/>
              <a:t>존재하지 않는 </a:t>
            </a:r>
            <a:r>
              <a:rPr lang="en-US" altLang="ko-KR" sz="1400"/>
              <a:t>Key </a:t>
            </a:r>
            <a:r>
              <a:rPr lang="ko-KR" altLang="en-US" sz="1400"/>
              <a:t>라면 등록이 이루어진다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/>
              <a:t>ex </a:t>
            </a:r>
            <a:r>
              <a:rPr lang="ko-KR" altLang="en-US" sz="1400"/>
              <a:t>옵션을 통해 </a:t>
            </a:r>
            <a:r>
              <a:rPr lang="en-US" altLang="ko-KR" sz="1400"/>
              <a:t>ttl</a:t>
            </a:r>
            <a:r>
              <a:rPr lang="ko-KR" altLang="en-US" sz="1400"/>
              <a:t>을 저장할 수 있다</a:t>
            </a:r>
            <a:r>
              <a:rPr lang="en-US" altLang="ko-KR" sz="1400"/>
              <a:t>. (</a:t>
            </a:r>
            <a:r>
              <a:rPr lang="ko-KR" altLang="en-US" sz="1400"/>
              <a:t>단위 </a:t>
            </a:r>
            <a:r>
              <a:rPr lang="en-US" altLang="ko-KR" sz="1400"/>
              <a:t>: s)</a:t>
            </a:r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D2B60-D727-715E-1703-A3BF3FA55F3B}"/>
              </a:ext>
            </a:extLst>
          </p:cNvPr>
          <p:cNvSpPr txBox="1"/>
          <p:nvPr/>
        </p:nvSpPr>
        <p:spPr>
          <a:xfrm>
            <a:off x="1006764" y="57347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k6 run --summary-mode=</a:t>
            </a:r>
            <a:r>
              <a:rPr lang="en-US" altLang="ko-KR"/>
              <a:t>full</a:t>
            </a:r>
            <a:r>
              <a:rPr lang="ko-KR" altLang="en-US"/>
              <a:t> scripts/script_2-2.js</a:t>
            </a:r>
          </a:p>
        </p:txBody>
      </p:sp>
    </p:spTree>
    <p:extLst>
      <p:ext uri="{BB962C8B-B14F-4D97-AF65-F5344CB8AC3E}">
        <p14:creationId xmlns:p14="http://schemas.microsoft.com/office/powerpoint/2010/main" val="421583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A4960-E4A0-9347-B4AE-75FC2236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 </a:t>
            </a:r>
            <a:r>
              <a:rPr lang="ko-KR" altLang="en-US" sz="3600"/>
              <a:t>미적용 재고 처리 로직 작성 </a:t>
            </a:r>
            <a:r>
              <a:rPr lang="en-US" altLang="ko-KR" sz="3600"/>
              <a:t>- entity</a:t>
            </a:r>
            <a:endParaRPr lang="ko-KR" altLang="en-US" sz="36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D1D5BB-8D6A-D7B6-6787-05A12D5B14FB}"/>
              </a:ext>
            </a:extLst>
          </p:cNvPr>
          <p:cNvGrpSpPr/>
          <p:nvPr/>
        </p:nvGrpSpPr>
        <p:grpSpPr>
          <a:xfrm>
            <a:off x="663172" y="1911652"/>
            <a:ext cx="2721082" cy="4659745"/>
            <a:chOff x="663172" y="1911652"/>
            <a:chExt cx="2721082" cy="465974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7B1C8E1-97C2-C1F7-8A0A-A7B2FE681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172" y="1911652"/>
              <a:ext cx="2721082" cy="465974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2752636-A82D-974F-2FF8-12598D759392}"/>
                </a:ext>
              </a:extLst>
            </p:cNvPr>
            <p:cNvSpPr/>
            <p:nvPr/>
          </p:nvSpPr>
          <p:spPr>
            <a:xfrm>
              <a:off x="1097280" y="3814618"/>
              <a:ext cx="722284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C7BF487-0919-090E-BB64-601183D5B4F0}"/>
              </a:ext>
            </a:extLst>
          </p:cNvPr>
          <p:cNvGrpSpPr/>
          <p:nvPr/>
        </p:nvGrpSpPr>
        <p:grpSpPr>
          <a:xfrm>
            <a:off x="3525422" y="1911652"/>
            <a:ext cx="5953956" cy="3896269"/>
            <a:chOff x="3525422" y="1911652"/>
            <a:chExt cx="5953956" cy="389626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9AE975C-F031-8E14-BE5F-4B4D46116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5422" y="1911652"/>
              <a:ext cx="5953956" cy="3896269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3524571-9A6E-ADBD-CB9F-D972738AAFC4}"/>
                </a:ext>
              </a:extLst>
            </p:cNvPr>
            <p:cNvSpPr/>
            <p:nvPr/>
          </p:nvSpPr>
          <p:spPr>
            <a:xfrm>
              <a:off x="4064000" y="3731491"/>
              <a:ext cx="5415378" cy="18657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D53985-EA60-DFD5-105A-74CDA67AC5ED}"/>
              </a:ext>
            </a:extLst>
          </p:cNvPr>
          <p:cNvSpPr txBox="1"/>
          <p:nvPr/>
        </p:nvSpPr>
        <p:spPr>
          <a:xfrm>
            <a:off x="9605818" y="1911652"/>
            <a:ext cx="2503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도메인 주도 패턴</a:t>
            </a:r>
            <a:br>
              <a:rPr lang="en-US" altLang="ko-KR" sz="1400"/>
            </a:br>
            <a:endParaRPr lang="en-US" altLang="ko-KR" sz="1400"/>
          </a:p>
          <a:p>
            <a:r>
              <a:rPr lang="ko-KR" altLang="en-US" sz="1400"/>
              <a:t>재고 관리등의 불변식이 </a:t>
            </a:r>
            <a:endParaRPr lang="en-US" altLang="ko-KR" sz="1400"/>
          </a:p>
          <a:p>
            <a:r>
              <a:rPr lang="ko-KR" altLang="en-US" sz="1400"/>
              <a:t>적용되는 멤버 변수 관련 하여 엔티티 내 비지니스 로직을 추가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75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F5C82-01B0-8945-DB59-01D7E904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315D90-9FB8-E18A-7EA2-4CB1663F0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833" y="1929390"/>
            <a:ext cx="4344006" cy="26102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CB2E2F0-9230-22CC-0D65-3A89D39F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 </a:t>
            </a:r>
            <a:r>
              <a:rPr lang="ko-KR" altLang="en-US" sz="3600"/>
              <a:t>미적용 재고 처리 로직 </a:t>
            </a:r>
            <a:r>
              <a:rPr lang="en-US" altLang="ko-KR" sz="3600"/>
              <a:t>- Controller, Service</a:t>
            </a:r>
            <a:endParaRPr lang="ko-KR" altLang="en-US" sz="36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9A4BC7-B52F-495A-260F-ABF5FDD67A4C}"/>
              </a:ext>
            </a:extLst>
          </p:cNvPr>
          <p:cNvGrpSpPr/>
          <p:nvPr/>
        </p:nvGrpSpPr>
        <p:grpSpPr>
          <a:xfrm>
            <a:off x="663172" y="1911652"/>
            <a:ext cx="2721082" cy="4659745"/>
            <a:chOff x="663172" y="1911652"/>
            <a:chExt cx="2721082" cy="465974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CBE97AD-47AC-FF88-40E4-316C048CD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172" y="1911652"/>
              <a:ext cx="2721082" cy="465974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33DBF5E-1D23-FC1C-1B21-0EF6F529B9F0}"/>
                </a:ext>
              </a:extLst>
            </p:cNvPr>
            <p:cNvSpPr/>
            <p:nvPr/>
          </p:nvSpPr>
          <p:spPr>
            <a:xfrm>
              <a:off x="1097279" y="4010615"/>
              <a:ext cx="1294939" cy="4505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FB06F0-2D59-7371-4EDD-0A1C6A6C39CB}"/>
              </a:ext>
            </a:extLst>
          </p:cNvPr>
          <p:cNvSpPr/>
          <p:nvPr/>
        </p:nvSpPr>
        <p:spPr>
          <a:xfrm>
            <a:off x="4629705" y="3296646"/>
            <a:ext cx="2990294" cy="1099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D204F-DDD3-43FD-ED25-987894EC179D}"/>
              </a:ext>
            </a:extLst>
          </p:cNvPr>
          <p:cNvSpPr txBox="1"/>
          <p:nvPr/>
        </p:nvSpPr>
        <p:spPr>
          <a:xfrm>
            <a:off x="8525164" y="1929390"/>
            <a:ext cx="2503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item</a:t>
            </a:r>
            <a:r>
              <a:rPr lang="ko-KR" altLang="en-US" sz="1400"/>
              <a:t> 에 대한 </a:t>
            </a:r>
            <a:r>
              <a:rPr lang="en-US" altLang="ko-KR" sz="1400"/>
              <a:t>id (stockId) </a:t>
            </a:r>
            <a:r>
              <a:rPr lang="ko-KR" altLang="en-US" sz="1400"/>
              <a:t>를 받아 </a:t>
            </a:r>
            <a:r>
              <a:rPr lang="en-US" altLang="ko-KR" sz="1400"/>
              <a:t>DDD </a:t>
            </a:r>
            <a:r>
              <a:rPr lang="ko-KR" altLang="en-US" sz="1400"/>
              <a:t>재고 처리 로직에 의해 재고 감소 수행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update</a:t>
            </a:r>
            <a:r>
              <a:rPr lang="ko-KR" altLang="en-US" sz="1400"/>
              <a:t>는 </a:t>
            </a:r>
            <a:r>
              <a:rPr lang="en-US" altLang="ko-KR" sz="1400"/>
              <a:t>JPA</a:t>
            </a:r>
            <a:r>
              <a:rPr lang="ko-KR" altLang="en-US" sz="1400"/>
              <a:t>의 변경감지에 의해 이루어진다</a:t>
            </a:r>
            <a:r>
              <a:rPr lang="en-US" altLang="ko-KR" sz="140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471CD2-BA30-FD3E-7228-70D683B77A51}"/>
              </a:ext>
            </a:extLst>
          </p:cNvPr>
          <p:cNvSpPr/>
          <p:nvPr/>
        </p:nvSpPr>
        <p:spPr>
          <a:xfrm>
            <a:off x="4631333" y="2818263"/>
            <a:ext cx="2970194" cy="286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694CFA6-800A-6EAA-75E0-870D2402B167}"/>
              </a:ext>
            </a:extLst>
          </p:cNvPr>
          <p:cNvGrpSpPr/>
          <p:nvPr/>
        </p:nvGrpSpPr>
        <p:grpSpPr>
          <a:xfrm>
            <a:off x="4034834" y="4588538"/>
            <a:ext cx="4344006" cy="2142708"/>
            <a:chOff x="4034834" y="4588538"/>
            <a:chExt cx="4344006" cy="214270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0538930-5384-73CC-802A-6371E6A45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4834" y="4588538"/>
              <a:ext cx="4344006" cy="214270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8130E11-FE40-8894-A4A5-B5A58E019F5C}"/>
                </a:ext>
              </a:extLst>
            </p:cNvPr>
            <p:cNvSpPr/>
            <p:nvPr/>
          </p:nvSpPr>
          <p:spPr>
            <a:xfrm>
              <a:off x="4403413" y="5588000"/>
              <a:ext cx="3975425" cy="9833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006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AB197-9108-6CE6-161B-2D772EFA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동시성 이슈 확인하기 위한 실행 순서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79554C-4573-6ABD-38F7-FA9A596B9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268" y="1956128"/>
            <a:ext cx="2676899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94FCA73-04FD-7586-A63E-80D39B048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33286"/>
            <a:ext cx="1867161" cy="20862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AA2F662B-42FB-6ADE-825B-6A77DFCC9234}"/>
              </a:ext>
            </a:extLst>
          </p:cNvPr>
          <p:cNvGrpSpPr/>
          <p:nvPr/>
        </p:nvGrpSpPr>
        <p:grpSpPr>
          <a:xfrm>
            <a:off x="3149600" y="1933286"/>
            <a:ext cx="3380509" cy="2086266"/>
            <a:chOff x="3149600" y="1933286"/>
            <a:chExt cx="3380509" cy="2086266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351F4AA-B81C-096A-6D04-C28BEDF4DE67}"/>
                </a:ext>
              </a:extLst>
            </p:cNvPr>
            <p:cNvGrpSpPr/>
            <p:nvPr/>
          </p:nvGrpSpPr>
          <p:grpSpPr>
            <a:xfrm>
              <a:off x="3149600" y="1933286"/>
              <a:ext cx="3380509" cy="2086266"/>
              <a:chOff x="3131127" y="1803982"/>
              <a:chExt cx="3380509" cy="2086266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D35A818C-7D91-B2C7-F5DD-FB14CC221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5563" y="1933286"/>
                <a:ext cx="2191056" cy="800212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2F1C84A1-C93E-80DD-F839-B04BBAE977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5563" y="2893351"/>
                <a:ext cx="3191320" cy="857370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1B54D8A-F2E0-EBF6-3307-ED10AF2E21DC}"/>
                  </a:ext>
                </a:extLst>
              </p:cNvPr>
              <p:cNvSpPr/>
              <p:nvPr/>
            </p:nvSpPr>
            <p:spPr>
              <a:xfrm>
                <a:off x="3131127" y="1803982"/>
                <a:ext cx="3380509" cy="208626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50A684-6E66-592C-22AF-9D452561CCAC}"/>
                </a:ext>
              </a:extLst>
            </p:cNvPr>
            <p:cNvSpPr/>
            <p:nvPr/>
          </p:nvSpPr>
          <p:spPr>
            <a:xfrm>
              <a:off x="4859696" y="2466109"/>
              <a:ext cx="709832" cy="2124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2EC12F-83C4-2AE7-D7EB-4C2EFD5F49E5}"/>
                </a:ext>
              </a:extLst>
            </p:cNvPr>
            <p:cNvSpPr/>
            <p:nvPr/>
          </p:nvSpPr>
          <p:spPr>
            <a:xfrm>
              <a:off x="4484938" y="3058727"/>
              <a:ext cx="374758" cy="3368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DD6741-1D77-A9ED-8A96-F971D5020C41}"/>
              </a:ext>
            </a:extLst>
          </p:cNvPr>
          <p:cNvSpPr txBox="1"/>
          <p:nvPr/>
        </p:nvSpPr>
        <p:spPr>
          <a:xfrm>
            <a:off x="1097280" y="4137891"/>
            <a:ext cx="10762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application.yml </a:t>
            </a:r>
            <a:r>
              <a:rPr lang="ko-KR" altLang="en-US" sz="1200"/>
              <a:t>에 </a:t>
            </a:r>
            <a:r>
              <a:rPr lang="en-US" altLang="ko-KR" sz="1200"/>
              <a:t>" ddl-auto</a:t>
            </a:r>
            <a:r>
              <a:rPr lang="ko-KR" altLang="en-US" sz="1200"/>
              <a:t> </a:t>
            </a:r>
            <a:r>
              <a:rPr lang="en-US" altLang="ko-KR" sz="1200"/>
              <a:t>:</a:t>
            </a:r>
            <a:r>
              <a:rPr lang="ko-KR" altLang="en-US" sz="1200"/>
              <a:t> </a:t>
            </a:r>
            <a:r>
              <a:rPr lang="en-US" altLang="ko-KR" sz="1200"/>
              <a:t>create</a:t>
            </a:r>
            <a:r>
              <a:rPr lang="ko-KR" altLang="en-US" sz="1200"/>
              <a:t> </a:t>
            </a:r>
            <a:r>
              <a:rPr lang="en-US" altLang="ko-KR" sz="1200"/>
              <a:t>" </a:t>
            </a:r>
            <a:r>
              <a:rPr lang="ko-KR" altLang="en-US" sz="1200"/>
              <a:t>로 선언되어있음으로 애플리케이션이 재실행마다 </a:t>
            </a:r>
            <a:r>
              <a:rPr lang="en-US" altLang="ko-KR" sz="1200"/>
              <a:t>DB </a:t>
            </a:r>
            <a:r>
              <a:rPr lang="ko-KR" altLang="en-US" sz="1200"/>
              <a:t>내 데이터가 비어진다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애플리케이션 실행 뒤</a:t>
            </a:r>
            <a:r>
              <a:rPr lang="en-US" altLang="ko-KR" sz="1200"/>
              <a:t>. DB</a:t>
            </a:r>
            <a:r>
              <a:rPr lang="ko-KR" altLang="en-US" sz="1200"/>
              <a:t> </a:t>
            </a:r>
            <a:r>
              <a:rPr lang="en-US" altLang="ko-KR" sz="1200"/>
              <a:t>Insert </a:t>
            </a:r>
            <a:r>
              <a:rPr lang="ko-KR" altLang="en-US" sz="1200"/>
              <a:t>시도</a:t>
            </a:r>
            <a:r>
              <a:rPr lang="en-US" altLang="ko-KR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412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39B48-6412-82D4-1C05-38031FCB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K6 </a:t>
            </a:r>
            <a:r>
              <a:rPr lang="ko-KR" altLang="en-US" sz="3600"/>
              <a:t>부하테스트</a:t>
            </a:r>
            <a:r>
              <a:rPr lang="en-US" altLang="ko-KR" sz="3600"/>
              <a:t>(</a:t>
            </a:r>
            <a:r>
              <a:rPr lang="ko-KR" altLang="en-US" sz="3600"/>
              <a:t>재고 차감</a:t>
            </a:r>
            <a:r>
              <a:rPr lang="en-US" altLang="ko-KR" sz="3600"/>
              <a:t>) </a:t>
            </a:r>
            <a:r>
              <a:rPr lang="ko-KR" altLang="en-US" sz="3600"/>
              <a:t>진행 </a:t>
            </a:r>
            <a:r>
              <a:rPr lang="en-US" altLang="ko-KR" sz="3600"/>
              <a:t>- </a:t>
            </a:r>
            <a:r>
              <a:rPr lang="ko-KR" altLang="en-US" sz="3600"/>
              <a:t>동시성 이슈 확인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7B4A96F-D1D1-886C-C985-FA0823DBD4DB}"/>
              </a:ext>
            </a:extLst>
          </p:cNvPr>
          <p:cNvGrpSpPr/>
          <p:nvPr/>
        </p:nvGrpSpPr>
        <p:grpSpPr>
          <a:xfrm>
            <a:off x="1097280" y="1855582"/>
            <a:ext cx="1638529" cy="2943636"/>
            <a:chOff x="1097280" y="1855582"/>
            <a:chExt cx="1638529" cy="294363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F73F0FF-94BB-AD69-3149-8A773152D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5582"/>
              <a:ext cx="1638529" cy="294363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CA9E882-89D6-3108-B200-1C029A80FAB4}"/>
                </a:ext>
              </a:extLst>
            </p:cNvPr>
            <p:cNvSpPr/>
            <p:nvPr/>
          </p:nvSpPr>
          <p:spPr>
            <a:xfrm>
              <a:off x="1228436" y="3509818"/>
              <a:ext cx="960582" cy="1754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EE0EAF8-0C74-C76D-5FC1-FC29F4F3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65" y="1855582"/>
            <a:ext cx="3629451" cy="48707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AAFDB01-A5C2-AC29-99D3-97E1221FE4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687"/>
          <a:stretch>
            <a:fillRect/>
          </a:stretch>
        </p:blipFill>
        <p:spPr>
          <a:xfrm>
            <a:off x="6627573" y="1841006"/>
            <a:ext cx="2697462" cy="40393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EE53C4-435B-4628-66EB-B40196836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239" y="1864818"/>
            <a:ext cx="2471568" cy="39878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8ABEB1-4A40-B87E-06FC-EA848567644B}"/>
              </a:ext>
            </a:extLst>
          </p:cNvPr>
          <p:cNvSpPr txBox="1"/>
          <p:nvPr/>
        </p:nvSpPr>
        <p:spPr>
          <a:xfrm>
            <a:off x="6576291" y="6022109"/>
            <a:ext cx="5466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checks_total</a:t>
            </a:r>
            <a:r>
              <a:rPr lang="ko-KR" altLang="en-US" sz="1200"/>
              <a:t>이 </a:t>
            </a:r>
            <a:r>
              <a:rPr lang="en-US" altLang="ko-KR" sz="1200"/>
              <a:t>1000</a:t>
            </a:r>
            <a:r>
              <a:rPr lang="ko-KR" altLang="en-US" sz="1200"/>
              <a:t>인데 반해 재고는 </a:t>
            </a:r>
            <a:r>
              <a:rPr lang="en-US" altLang="ko-KR" sz="1200"/>
              <a:t>151 </a:t>
            </a:r>
            <a:r>
              <a:rPr lang="ko-KR" altLang="en-US" sz="1200"/>
              <a:t>건 밖에 안빠짐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일치하지 않음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20394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0AEC4-02CD-8938-50C6-CEDD4424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재고관리 </a:t>
            </a:r>
            <a:r>
              <a:rPr lang="en-US" altLang="ko-KR"/>
              <a:t>Redis</a:t>
            </a:r>
            <a:r>
              <a:rPr lang="ko-KR" altLang="en-US"/>
              <a:t>를 적용한 </a:t>
            </a:r>
            <a:r>
              <a:rPr lang="en-US" altLang="ko-KR"/>
              <a:t>Url </a:t>
            </a:r>
            <a:r>
              <a:rPr lang="ko-KR" altLang="en-US"/>
              <a:t>추가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4E6AB17-2D19-1E34-4129-EDB4D0E7CFC6}"/>
              </a:ext>
            </a:extLst>
          </p:cNvPr>
          <p:cNvGrpSpPr/>
          <p:nvPr/>
        </p:nvGrpSpPr>
        <p:grpSpPr>
          <a:xfrm>
            <a:off x="302144" y="1917751"/>
            <a:ext cx="2905530" cy="3410426"/>
            <a:chOff x="302144" y="1917751"/>
            <a:chExt cx="2905530" cy="34104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A183C5D-9239-1D50-4E6D-0647FA1B6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144" y="1917751"/>
              <a:ext cx="2905530" cy="341042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291F8FF-EC83-0F79-42B7-24877D6741FF}"/>
                </a:ext>
              </a:extLst>
            </p:cNvPr>
            <p:cNvSpPr/>
            <p:nvPr/>
          </p:nvSpPr>
          <p:spPr>
            <a:xfrm>
              <a:off x="720436" y="4211782"/>
              <a:ext cx="1403928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79C96A8-E737-5453-DE7A-0125726A0DC0}"/>
              </a:ext>
            </a:extLst>
          </p:cNvPr>
          <p:cNvGrpSpPr/>
          <p:nvPr/>
        </p:nvGrpSpPr>
        <p:grpSpPr>
          <a:xfrm>
            <a:off x="3328764" y="1917751"/>
            <a:ext cx="7344800" cy="2294031"/>
            <a:chOff x="3328764" y="1917751"/>
            <a:chExt cx="7344800" cy="229403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7DD8901-F954-88AB-0802-E1343F47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8764" y="3392518"/>
              <a:ext cx="7344800" cy="81926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1F58D62-4750-8138-EA5D-694C7D7BD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28764" y="1917751"/>
              <a:ext cx="4201111" cy="1333686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24B309-CF65-8738-BDF4-8AF43E77BEEC}"/>
                </a:ext>
              </a:extLst>
            </p:cNvPr>
            <p:cNvSpPr/>
            <p:nvPr/>
          </p:nvSpPr>
          <p:spPr>
            <a:xfrm>
              <a:off x="3828473" y="3029764"/>
              <a:ext cx="3701402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9F4CC5-2317-7552-404B-8CBD451442AB}"/>
              </a:ext>
            </a:extLst>
          </p:cNvPr>
          <p:cNvSpPr/>
          <p:nvPr/>
        </p:nvSpPr>
        <p:spPr>
          <a:xfrm>
            <a:off x="3897746" y="3440545"/>
            <a:ext cx="6775818" cy="771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83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0A0AA-6848-CEDB-E2B1-FF1D45A7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StockLockService </a:t>
            </a:r>
            <a:r>
              <a:rPr lang="ko-KR" altLang="en-US"/>
              <a:t>재고 차감 로직 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FA51B33-7E44-629B-1A2C-896A1D42EB27}"/>
              </a:ext>
            </a:extLst>
          </p:cNvPr>
          <p:cNvGrpSpPr/>
          <p:nvPr/>
        </p:nvGrpSpPr>
        <p:grpSpPr>
          <a:xfrm>
            <a:off x="302144" y="1917751"/>
            <a:ext cx="2905530" cy="3410426"/>
            <a:chOff x="302144" y="1917751"/>
            <a:chExt cx="2905530" cy="34104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4554D90-D4EB-A7D1-0C61-BE668F55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144" y="1917751"/>
              <a:ext cx="2905530" cy="341042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4D16A60-2BA0-02CB-A49D-A0FF021A9050}"/>
                </a:ext>
              </a:extLst>
            </p:cNvPr>
            <p:cNvSpPr/>
            <p:nvPr/>
          </p:nvSpPr>
          <p:spPr>
            <a:xfrm>
              <a:off x="775854" y="4451928"/>
              <a:ext cx="1403928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3EC94DBE-4A23-6CE3-E9FC-1155CE1BD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604" y="1917751"/>
            <a:ext cx="5450792" cy="371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A0EA5-6924-D4F0-AEDB-99322E41C056}"/>
              </a:ext>
            </a:extLst>
          </p:cNvPr>
          <p:cNvSpPr txBox="1"/>
          <p:nvPr/>
        </p:nvSpPr>
        <p:spPr>
          <a:xfrm>
            <a:off x="8903855" y="1917751"/>
            <a:ext cx="32881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17Line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/>
              <a:t>stock_lock:{stockId} </a:t>
            </a:r>
            <a:r>
              <a:rPr lang="ko-KR" altLang="en-US" sz="1200"/>
              <a:t>키 설정</a:t>
            </a:r>
            <a:endParaRPr lang="en-US" altLang="ko-KR" sz="1200"/>
          </a:p>
          <a:p>
            <a:r>
              <a:rPr lang="en-US" altLang="ko-KR" sz="1200"/>
              <a:t>18, 28~33Line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</a:p>
          <a:p>
            <a:pPr marL="171450" indent="-171450"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17Line</a:t>
            </a:r>
            <a:r>
              <a:rPr lang="ko-KR" altLang="en-US" sz="1200">
                <a:sym typeface="Wingdings" panose="05000000000000000000" pitchFamily="2" charset="2"/>
              </a:rPr>
              <a:t>에서 설정한 키를 등록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키가 이미 등록되어있으면 </a:t>
            </a:r>
            <a:r>
              <a:rPr lang="en-US" altLang="ko-KR" sz="1200">
                <a:sym typeface="Wingdings" panose="05000000000000000000" pitchFamily="2" charset="2"/>
              </a:rPr>
              <a:t>setifAbsent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(redis-cli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SET NX </a:t>
            </a:r>
            <a:r>
              <a:rPr lang="ko-KR" altLang="en-US" sz="1200">
                <a:sym typeface="Wingdings" panose="05000000000000000000" pitchFamily="2" charset="2"/>
              </a:rPr>
              <a:t>에 해당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r>
              <a:rPr lang="ko-KR" altLang="en-US" sz="1200">
                <a:sym typeface="Wingdings" panose="05000000000000000000" pitchFamily="2" charset="2"/>
              </a:rPr>
              <a:t>메소드에 의해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저장 실패 </a:t>
            </a:r>
            <a:r>
              <a:rPr lang="en-US" altLang="ko-KR" sz="1200">
                <a:sym typeface="Wingdings" panose="05000000000000000000" pitchFamily="2" charset="2"/>
              </a:rPr>
              <a:t>false </a:t>
            </a:r>
            <a:r>
              <a:rPr lang="ko-KR" altLang="en-US" sz="1200">
                <a:sym typeface="Wingdings" panose="05000000000000000000" pitchFamily="2" charset="2"/>
              </a:rPr>
              <a:t>반환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18~20Line  tryLock</a:t>
            </a:r>
            <a:r>
              <a:rPr lang="ko-KR" altLang="en-US" sz="1200">
                <a:sym typeface="Wingdings" panose="05000000000000000000" pitchFamily="2" charset="2"/>
              </a:rPr>
              <a:t>에서 반환된게 </a:t>
            </a:r>
            <a:r>
              <a:rPr lang="en-US" altLang="ko-KR" sz="1200">
                <a:sym typeface="Wingdings" panose="05000000000000000000" pitchFamily="2" charset="2"/>
              </a:rPr>
              <a:t>false</a:t>
            </a:r>
            <a:r>
              <a:rPr lang="ko-KR" altLang="en-US" sz="1200">
                <a:sym typeface="Wingdings" panose="05000000000000000000" pitchFamily="2" charset="2"/>
              </a:rPr>
              <a:t>라면 </a:t>
            </a:r>
            <a:r>
              <a:rPr lang="en-US" altLang="ko-KR" sz="1200">
                <a:sym typeface="Wingdings" panose="05000000000000000000" pitchFamily="2" charset="2"/>
              </a:rPr>
              <a:t>while</a:t>
            </a:r>
            <a:r>
              <a:rPr lang="ko-KR" altLang="en-US" sz="1200">
                <a:sym typeface="Wingdings" panose="05000000000000000000" pitchFamily="2" charset="2"/>
              </a:rPr>
              <a:t>문은 계속 반복 실행</a:t>
            </a:r>
            <a:r>
              <a:rPr lang="en-US" altLang="ko-KR" sz="1200">
                <a:sym typeface="Wingdings" panose="05000000000000000000" pitchFamily="2" charset="2"/>
              </a:rPr>
              <a:t>.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(Lock</a:t>
            </a:r>
            <a:r>
              <a:rPr lang="ko-KR" altLang="en-US" sz="1200">
                <a:sym typeface="Wingdings" panose="05000000000000000000" pitchFamily="2" charset="2"/>
              </a:rPr>
              <a:t> 획득 시도를 </a:t>
            </a:r>
            <a:r>
              <a:rPr lang="en-US" altLang="ko-KR" sz="1200">
                <a:sym typeface="Wingdings" panose="05000000000000000000" pitchFamily="2" charset="2"/>
              </a:rPr>
              <a:t>1</a:t>
            </a:r>
            <a:r>
              <a:rPr lang="ko-KR" altLang="en-US" sz="1200">
                <a:sym typeface="Wingdings" panose="05000000000000000000" pitchFamily="2" charset="2"/>
              </a:rPr>
              <a:t>초뒤에 다시 진행한다</a:t>
            </a:r>
            <a:r>
              <a:rPr lang="en-US" altLang="ko-KR" sz="1200">
                <a:sym typeface="Wingdings" panose="05000000000000000000" pitchFamily="2" charset="2"/>
              </a:rPr>
              <a:t>.)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/>
              <a:t>21~26Line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18~20Line</a:t>
            </a:r>
            <a:r>
              <a:rPr lang="ko-KR" altLang="en-US" sz="1200">
                <a:sym typeface="Wingdings" panose="05000000000000000000" pitchFamily="2" charset="2"/>
              </a:rPr>
              <a:t>에서의 반복에 의해 </a:t>
            </a:r>
            <a:r>
              <a:rPr lang="en-US" altLang="ko-KR" sz="1200">
                <a:sym typeface="Wingdings" panose="05000000000000000000" pitchFamily="2" charset="2"/>
              </a:rPr>
              <a:t>Lock</a:t>
            </a:r>
            <a:r>
              <a:rPr lang="ko-KR" altLang="en-US" sz="1200">
                <a:sym typeface="Wingdings" panose="05000000000000000000" pitchFamily="2" charset="2"/>
              </a:rPr>
              <a:t>을 획득</a:t>
            </a:r>
            <a:r>
              <a:rPr lang="en-US" altLang="ko-KR" sz="1200">
                <a:sym typeface="Wingdings" panose="05000000000000000000" pitchFamily="2" charset="2"/>
              </a:rPr>
              <a:t>{key</a:t>
            </a:r>
            <a:r>
              <a:rPr lang="ko-KR" altLang="en-US" sz="1200">
                <a:sym typeface="Wingdings" panose="05000000000000000000" pitchFamily="2" charset="2"/>
              </a:rPr>
              <a:t>에 대해 </a:t>
            </a:r>
            <a:r>
              <a:rPr lang="en-US" altLang="ko-KR" sz="1200">
                <a:sym typeface="Wingdings" panose="05000000000000000000" pitchFamily="2" charset="2"/>
              </a:rPr>
              <a:t>"lock" value</a:t>
            </a:r>
            <a:r>
              <a:rPr lang="ko-KR" altLang="en-US" sz="1200">
                <a:sym typeface="Wingdings" panose="05000000000000000000" pitchFamily="2" charset="2"/>
              </a:rPr>
              <a:t>가 </a:t>
            </a:r>
            <a:r>
              <a:rPr lang="en-US" altLang="ko-KR" sz="1200">
                <a:sym typeface="Wingdings" panose="05000000000000000000" pitchFamily="2" charset="2"/>
              </a:rPr>
              <a:t>redis </a:t>
            </a:r>
            <a:r>
              <a:rPr lang="ko-KR" altLang="en-US" sz="1200">
                <a:sym typeface="Wingdings" panose="05000000000000000000" pitchFamily="2" charset="2"/>
              </a:rPr>
              <a:t>에 등록 </a:t>
            </a:r>
            <a:r>
              <a:rPr lang="en-US" altLang="ko-KR" sz="1200">
                <a:sym typeface="Wingdings" panose="05000000000000000000" pitchFamily="2" charset="2"/>
              </a:rPr>
              <a:t>}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Lock</a:t>
            </a:r>
            <a:r>
              <a:rPr lang="ko-KR" altLang="en-US" sz="1200">
                <a:sym typeface="Wingdings" panose="05000000000000000000" pitchFamily="2" charset="2"/>
              </a:rPr>
              <a:t>을 획득했다는 의미는 </a:t>
            </a:r>
            <a:r>
              <a:rPr lang="ko-KR" altLang="en-US" sz="1200" b="1">
                <a:solidFill>
                  <a:srgbClr val="FF0000"/>
                </a:solidFill>
                <a:sym typeface="Wingdings" panose="05000000000000000000" pitchFamily="2" charset="2"/>
              </a:rPr>
              <a:t>현재 재고 차감에 대해 다른 요청은 재고를 차감할 수 없다는 뜻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즉 빠르게 </a:t>
            </a:r>
            <a:r>
              <a:rPr lang="ko-KR" altLang="en-US" sz="1200" b="1">
                <a:solidFill>
                  <a:srgbClr val="FF0000"/>
                </a:solidFill>
                <a:sym typeface="Wingdings" panose="05000000000000000000" pitchFamily="2" charset="2"/>
              </a:rPr>
              <a:t>현재 요청에 대한 재고 차감을 진행</a:t>
            </a:r>
            <a:r>
              <a:rPr lang="ko-KR" altLang="en-US" sz="1200">
                <a:sym typeface="Wingdings" panose="05000000000000000000" pitchFamily="2" charset="2"/>
              </a:rPr>
              <a:t>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91145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6109F-C0F8-39C9-FC5F-9457B322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K6 </a:t>
            </a:r>
            <a:r>
              <a:rPr lang="ko-KR" altLang="en-US" sz="3600"/>
              <a:t>부하테스트 진행 </a:t>
            </a:r>
            <a:r>
              <a:rPr lang="en-US" altLang="ko-KR" sz="3600"/>
              <a:t>(Redis </a:t>
            </a:r>
            <a:r>
              <a:rPr lang="ko-KR" altLang="en-US" sz="3600"/>
              <a:t>적용</a:t>
            </a:r>
            <a:r>
              <a:rPr lang="en-US" altLang="ko-KR" sz="3600"/>
              <a:t>- </a:t>
            </a:r>
            <a:r>
              <a:rPr lang="ko-KR" altLang="en-US" sz="3600"/>
              <a:t>동시성 이슈 해결</a:t>
            </a:r>
            <a:r>
              <a:rPr lang="en-US" altLang="ko-KR" sz="3600"/>
              <a:t>)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ACC8AE-5AB1-A501-92DC-3517AF34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12" y="1991522"/>
            <a:ext cx="1543265" cy="990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DC632E-D2F2-EBE2-0AFE-39C23B898BAF}"/>
              </a:ext>
            </a:extLst>
          </p:cNvPr>
          <p:cNvSpPr txBox="1"/>
          <p:nvPr/>
        </p:nvSpPr>
        <p:spPr>
          <a:xfrm>
            <a:off x="667524" y="3082533"/>
            <a:ext cx="2186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</a:t>
            </a:r>
            <a:r>
              <a:rPr lang="ko-KR" altLang="en-US" sz="1400"/>
              <a:t>애플리케이션 재실행</a:t>
            </a:r>
            <a:br>
              <a:rPr lang="en-US" altLang="ko-KR" sz="1400"/>
            </a:br>
            <a:r>
              <a:rPr lang="en-US" altLang="ko-KR" sz="1400"/>
              <a:t>2. </a:t>
            </a:r>
            <a:r>
              <a:rPr lang="ko-KR" altLang="en-US" sz="1400"/>
              <a:t>재고 </a:t>
            </a:r>
            <a:r>
              <a:rPr lang="en-US" altLang="ko-KR" sz="1400"/>
              <a:t>10000</a:t>
            </a:r>
            <a:r>
              <a:rPr lang="ko-KR" altLang="en-US" sz="1400"/>
              <a:t>개 일치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BCDB49-6AAB-0944-D639-27DD86F0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471" y="1961792"/>
            <a:ext cx="5272069" cy="48383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729DB6-8907-AC65-FDDE-2122EE39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846" y="2348759"/>
            <a:ext cx="5139365" cy="27626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48E81A-54E7-CD5C-3B2E-C376C43C504D}"/>
              </a:ext>
            </a:extLst>
          </p:cNvPr>
          <p:cNvSpPr txBox="1"/>
          <p:nvPr/>
        </p:nvSpPr>
        <p:spPr>
          <a:xfrm>
            <a:off x="8137236" y="1991522"/>
            <a:ext cx="3897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k6 run --summary-mode=full scripts\script_2-2.js</a:t>
            </a:r>
            <a:endParaRPr lang="ko-KR" altLang="en-US" sz="12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86966B4-4665-E047-4D5C-A3E9AC7F4AD9}"/>
              </a:ext>
            </a:extLst>
          </p:cNvPr>
          <p:cNvGrpSpPr/>
          <p:nvPr/>
        </p:nvGrpSpPr>
        <p:grpSpPr>
          <a:xfrm>
            <a:off x="8304815" y="2705261"/>
            <a:ext cx="2850865" cy="2568748"/>
            <a:chOff x="8304815" y="2705261"/>
            <a:chExt cx="2850865" cy="256874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9E5F0D0-A3A9-2210-2429-484F22959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04815" y="2705261"/>
              <a:ext cx="2850865" cy="256874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29B8C-D936-55BD-DB3A-FE71D1EF35B3}"/>
                </a:ext>
              </a:extLst>
            </p:cNvPr>
            <p:cNvSpPr/>
            <p:nvPr/>
          </p:nvSpPr>
          <p:spPr>
            <a:xfrm>
              <a:off x="8442036" y="3082533"/>
              <a:ext cx="2466109" cy="1538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D5EDF62F-70E4-9463-1930-63BB935A1B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386"/>
          <a:stretch>
            <a:fillRect/>
          </a:stretch>
        </p:blipFill>
        <p:spPr>
          <a:xfrm>
            <a:off x="8304815" y="5447145"/>
            <a:ext cx="2133898" cy="1671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78718C-6366-BAEB-6020-C7A8E47538F1}"/>
              </a:ext>
            </a:extLst>
          </p:cNvPr>
          <p:cNvSpPr txBox="1"/>
          <p:nvPr/>
        </p:nvSpPr>
        <p:spPr>
          <a:xfrm>
            <a:off x="9910618" y="5714167"/>
            <a:ext cx="214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461</a:t>
            </a:r>
            <a:r>
              <a:rPr lang="ko-KR" altLang="en-US" sz="1200"/>
              <a:t>개의 요청에 대해 동시성 이슈 해결 확인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C5B2853-A92E-2A52-030E-FBE49CD77EA8}"/>
              </a:ext>
            </a:extLst>
          </p:cNvPr>
          <p:cNvGrpSpPr/>
          <p:nvPr/>
        </p:nvGrpSpPr>
        <p:grpSpPr>
          <a:xfrm>
            <a:off x="8304815" y="5714167"/>
            <a:ext cx="1533739" cy="1086002"/>
            <a:chOff x="8304815" y="5714167"/>
            <a:chExt cx="1533739" cy="108600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7B036C1-AD2E-9B64-13C7-A6632CF1A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04815" y="5714167"/>
              <a:ext cx="1533739" cy="10860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90A0493-0AF8-64B4-4B31-78654B6716E4}"/>
                </a:ext>
              </a:extLst>
            </p:cNvPr>
            <p:cNvSpPr/>
            <p:nvPr/>
          </p:nvSpPr>
          <p:spPr>
            <a:xfrm>
              <a:off x="8552873" y="6271491"/>
              <a:ext cx="1025236" cy="2999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523363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</TotalTime>
  <Words>364</Words>
  <Application>Microsoft Office PowerPoint</Application>
  <PresentationFormat>와이드스크린</PresentationFormat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추억</vt:lpstr>
      <vt:lpstr>Redis 동시성 이슈 제어</vt:lpstr>
      <vt:lpstr>String 자료구조 확인</vt:lpstr>
      <vt:lpstr>Redis 미적용 재고 처리 로직 작성 - entity</vt:lpstr>
      <vt:lpstr>Redis 미적용 재고 처리 로직 - Controller, Service</vt:lpstr>
      <vt:lpstr>동시성 이슈 확인하기 위한 실행 순서</vt:lpstr>
      <vt:lpstr>K6 부하테스트(재고 차감) 진행 - 동시성 이슈 확인</vt:lpstr>
      <vt:lpstr>재고관리 Redis를 적용한 Url 추가</vt:lpstr>
      <vt:lpstr>StockLockService 재고 차감 로직 작성</vt:lpstr>
      <vt:lpstr>K6 부하테스트 진행 (Redis 적용- 동시성 이슈 해결)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26</cp:revision>
  <dcterms:created xsi:type="dcterms:W3CDTF">2026-08-28T09:04:30Z</dcterms:created>
  <dcterms:modified xsi:type="dcterms:W3CDTF">2026-08-28T11:57:49Z</dcterms:modified>
</cp:coreProperties>
</file>