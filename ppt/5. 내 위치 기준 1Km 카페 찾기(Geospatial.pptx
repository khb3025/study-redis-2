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4FA00765-ED4F-403A-8FC6-C2803EBBE89E}">
          <p14:sldIdLst>
            <p14:sldId id="256"/>
            <p14:sldId id="257"/>
          </p14:sldIdLst>
        </p14:section>
        <p14:section name="내위치의 특정 반경 안의 카페찾기" id="{CFA49FF5-D835-4664-B39D-2099B48F2837}">
          <p14:sldIdLst>
            <p14:sldId id="258"/>
            <p14:sldId id="259"/>
            <p14:sldId id="260"/>
          </p14:sldIdLst>
        </p14:section>
        <p14:section name="가까운 카페 찾기 로직 테스트" id="{762AEDFE-1DFB-48A2-B90F-D5605329677E}">
          <p14:sldIdLst>
            <p14:sldId id="261"/>
            <p14:sldId id="262"/>
            <p14:sldId id="263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26" y="5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333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7713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4565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1193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808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4560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16783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2357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72983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64819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79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0DE24E0B-11A8-455F-8A8D-CA3CE3BFD4A5}" type="datetimeFigureOut">
              <a:rPr lang="ko-KR" altLang="en-US" smtClean="0"/>
              <a:t>2026-08-29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E08BABAB-288F-47AD-84DB-B04BAABDBAC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358721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D64590-C8B2-00E2-BF84-F9C2934C21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6000"/>
              <a:t>내 위치 기준 </a:t>
            </a:r>
            <a:r>
              <a:rPr lang="en-US" altLang="ko-KR" sz="6000"/>
              <a:t>1Km </a:t>
            </a:r>
            <a:r>
              <a:rPr lang="ko-KR" altLang="en-US" sz="6000"/>
              <a:t>카페 찾기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47F4DE1-91E0-A9BE-5AD1-7FE0411CEE5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/>
              <a:t>Redis</a:t>
            </a:r>
            <a:r>
              <a:rPr lang="ko-KR" altLang="en-US"/>
              <a:t>의 </a:t>
            </a:r>
            <a:r>
              <a:rPr lang="en-US" altLang="ko-KR"/>
              <a:t>geospatial </a:t>
            </a:r>
            <a:r>
              <a:rPr lang="ko-KR" altLang="en-US"/>
              <a:t>자료구조</a:t>
            </a:r>
          </a:p>
        </p:txBody>
      </p:sp>
    </p:spTree>
    <p:extLst>
      <p:ext uri="{BB962C8B-B14F-4D97-AF65-F5344CB8AC3E}">
        <p14:creationId xmlns:p14="http://schemas.microsoft.com/office/powerpoint/2010/main" val="3693459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837465-1E10-60E4-2D6D-DAE4FA191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GeoSpatial </a:t>
            </a:r>
            <a:r>
              <a:rPr lang="ko-KR" altLang="en-US"/>
              <a:t>자료구조 살펴보기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A0294-A859-71FE-7E9C-21C9D9F9BA5A}"/>
              </a:ext>
            </a:extLst>
          </p:cNvPr>
          <p:cNvSpPr txBox="1"/>
          <p:nvPr/>
        </p:nvSpPr>
        <p:spPr>
          <a:xfrm>
            <a:off x="1097280" y="2013528"/>
            <a:ext cx="1005840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GeoSpatial </a:t>
            </a:r>
            <a:r>
              <a:rPr lang="ko-KR" altLang="en-US"/>
              <a:t>데이터 저장</a:t>
            </a:r>
            <a:endParaRPr lang="en-US" altLang="ko-KR"/>
          </a:p>
          <a:p>
            <a:r>
              <a:rPr lang="en-US" altLang="ko-KR" sz="1200"/>
              <a:t>geoadd cafe 127.0276 37.4979 a_cafe</a:t>
            </a:r>
          </a:p>
          <a:p>
            <a:r>
              <a:rPr lang="en-US" altLang="ko-KR" sz="1200"/>
              <a:t>geoadd cafe 127.0294 37.4981 b_cafe</a:t>
            </a:r>
          </a:p>
          <a:p>
            <a:r>
              <a:rPr lang="en-US" altLang="ko-KR" sz="1200"/>
              <a:t>geoadd cafe 127.0330 37.4950 c_cafe</a:t>
            </a:r>
          </a:p>
          <a:p>
            <a:endParaRPr lang="en-US" altLang="ko-KR" sz="1200"/>
          </a:p>
          <a:p>
            <a:r>
              <a:rPr lang="en-US" altLang="ko-KR"/>
              <a:t>Geospatial </a:t>
            </a:r>
            <a:r>
              <a:rPr lang="ko-KR" altLang="en-US"/>
              <a:t>데이터 조회</a:t>
            </a:r>
            <a:endParaRPr lang="en-US" altLang="ko-KR"/>
          </a:p>
          <a:p>
            <a:r>
              <a:rPr lang="en-US" altLang="ko-KR" sz="1200"/>
              <a:t>zrange cafe 0 -1  # </a:t>
            </a:r>
            <a:r>
              <a:rPr lang="ko-KR" altLang="en-US" sz="1200"/>
              <a:t>전체 데이터 조회 </a:t>
            </a:r>
            <a:r>
              <a:rPr lang="en-US" altLang="ko-KR" sz="1200"/>
              <a:t>[Geospatial</a:t>
            </a:r>
            <a:r>
              <a:rPr lang="ko-KR" altLang="en-US" sz="1200"/>
              <a:t>은 </a:t>
            </a:r>
            <a:r>
              <a:rPr lang="en-US" altLang="ko-KR" sz="1200"/>
              <a:t>zset</a:t>
            </a:r>
            <a:r>
              <a:rPr lang="ko-KR" altLang="en-US" sz="1200"/>
              <a:t> 구조로 되어있음</a:t>
            </a:r>
            <a:r>
              <a:rPr lang="en-US" altLang="ko-KR" sz="1200"/>
              <a:t>.]</a:t>
            </a:r>
          </a:p>
          <a:p>
            <a:r>
              <a:rPr lang="en-US" altLang="ko-KR" sz="1200"/>
              <a:t>geopos cafe a_cafe b_cafe c_cafe # </a:t>
            </a:r>
            <a:r>
              <a:rPr lang="ko-KR" altLang="en-US" sz="1200"/>
              <a:t>개별 데이터 조회</a:t>
            </a:r>
            <a:endParaRPr lang="en-US" altLang="ko-KR" sz="1200"/>
          </a:p>
          <a:p>
            <a:endParaRPr lang="en-US" altLang="ko-KR"/>
          </a:p>
          <a:p>
            <a:r>
              <a:rPr lang="en-US" altLang="ko-KR"/>
              <a:t>Geospatial </a:t>
            </a:r>
            <a:r>
              <a:rPr lang="ko-KR" altLang="en-US"/>
              <a:t>거리 조회</a:t>
            </a:r>
            <a:endParaRPr lang="en-US" altLang="ko-KR"/>
          </a:p>
          <a:p>
            <a:r>
              <a:rPr lang="en-US" altLang="ko-KR" sz="1200"/>
              <a:t>geodist</a:t>
            </a:r>
            <a:r>
              <a:rPr lang="ko-KR" altLang="en-US" sz="1200"/>
              <a:t> </a:t>
            </a:r>
            <a:r>
              <a:rPr lang="en-US" altLang="ko-KR" sz="1200"/>
              <a:t>cafe</a:t>
            </a:r>
            <a:r>
              <a:rPr lang="ko-KR" altLang="en-US" sz="1200"/>
              <a:t> </a:t>
            </a:r>
            <a:r>
              <a:rPr lang="en-US" altLang="ko-KR" sz="1200"/>
              <a:t>a_cafe b_cafe m</a:t>
            </a:r>
          </a:p>
          <a:p>
            <a:r>
              <a:rPr lang="en-US" altLang="ko-KR" sz="1200"/>
              <a:t>geosearch cafe fromlonlat 127.0280 37.4975 byredius 1000 m asc withdist</a:t>
            </a:r>
          </a:p>
          <a:p>
            <a:endParaRPr lang="ko-KR" altLang="en-US" sz="120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24E56CF-24BA-C184-1D39-7FBD3C5C9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8264" y="1861421"/>
            <a:ext cx="3333511" cy="351414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837944C-A08F-ACB8-B7A8-9F4B61D886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8906" y="5489915"/>
            <a:ext cx="6563641" cy="1324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01933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100A22-6951-F6AF-309C-79B9C7A24B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4000"/>
              <a:t>Cafe </a:t>
            </a:r>
            <a:r>
              <a:rPr lang="ko-KR" altLang="en-US" sz="4000"/>
              <a:t>등록 및 반경 내 카페 검색</a:t>
            </a:r>
            <a:r>
              <a:rPr lang="en-US" altLang="ko-KR" sz="4000"/>
              <a:t>-Controller</a:t>
            </a:r>
            <a:endParaRPr lang="ko-KR" altLang="en-US" sz="40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BAA10EB2-B66C-0642-3CC0-28D8FBFF89DD}"/>
              </a:ext>
            </a:extLst>
          </p:cNvPr>
          <p:cNvGrpSpPr/>
          <p:nvPr/>
        </p:nvGrpSpPr>
        <p:grpSpPr>
          <a:xfrm>
            <a:off x="313243" y="1950926"/>
            <a:ext cx="3086531" cy="3658111"/>
            <a:chOff x="313243" y="1950926"/>
            <a:chExt cx="3086531" cy="3658111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5A924CA9-068A-BCFC-2CB9-DB9AA3FBCB3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3243" y="1950926"/>
              <a:ext cx="3086531" cy="3658111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11F76D63-9D22-D7A3-921F-D85BF05381BA}"/>
                </a:ext>
              </a:extLst>
            </p:cNvPr>
            <p:cNvSpPr/>
            <p:nvPr/>
          </p:nvSpPr>
          <p:spPr>
            <a:xfrm>
              <a:off x="729674" y="4924111"/>
              <a:ext cx="1413162" cy="19283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C468D400-F674-F9A5-0101-073DF7D734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5393" y="1950926"/>
            <a:ext cx="6106377" cy="3915321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ACEF1C4-3050-9664-905D-1C73ED2341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0741" y="1950926"/>
            <a:ext cx="3037696" cy="1478074"/>
          </a:xfrm>
          <a:prstGeom prst="rect">
            <a:avLst/>
          </a:prstGeom>
          <a:ln>
            <a:solidFill>
              <a:srgbClr val="FF0000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8419C06-7D34-49F5-DA3C-D7C148E25810}"/>
              </a:ext>
            </a:extLst>
          </p:cNvPr>
          <p:cNvSpPr txBox="1"/>
          <p:nvPr/>
        </p:nvSpPr>
        <p:spPr>
          <a:xfrm>
            <a:off x="9670473" y="3509818"/>
            <a:ext cx="24476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17~19Line : </a:t>
            </a:r>
          </a:p>
          <a:p>
            <a:pPr marL="171450" indent="-171450">
              <a:buFontTx/>
              <a:buChar char="-"/>
            </a:pPr>
            <a:r>
              <a:rPr lang="ko-KR" altLang="en-US" sz="1200"/>
              <a:t>카페명 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위도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ko-KR" altLang="en-US" sz="1200"/>
              <a:t>경도</a:t>
            </a:r>
            <a:endParaRPr lang="en-US" altLang="ko-KR" sz="1200"/>
          </a:p>
          <a:p>
            <a:r>
              <a:rPr lang="ko-KR" altLang="en-US" sz="1200"/>
              <a:t>를 입력 받아 </a:t>
            </a:r>
            <a:r>
              <a:rPr lang="en-US" altLang="ko-KR" sz="1200"/>
              <a:t>redis</a:t>
            </a:r>
            <a:r>
              <a:rPr lang="ko-KR" altLang="en-US" sz="1200"/>
              <a:t>에 등록한다</a:t>
            </a:r>
            <a:r>
              <a:rPr lang="en-US" altLang="ko-KR" sz="1200"/>
              <a:t>.</a:t>
            </a:r>
          </a:p>
          <a:p>
            <a:endParaRPr lang="en-US" altLang="ko-KR" sz="1200"/>
          </a:p>
          <a:p>
            <a:r>
              <a:rPr lang="en-US" altLang="ko-KR" sz="1200"/>
              <a:t>22~27Line : </a:t>
            </a:r>
          </a:p>
          <a:p>
            <a:r>
              <a:rPr lang="ko-KR" altLang="en-US" sz="1200"/>
              <a:t>현재 위치의 위도 및 경도</a:t>
            </a:r>
            <a:r>
              <a:rPr lang="en-US" altLang="ko-KR" sz="1200"/>
              <a:t>, </a:t>
            </a:r>
            <a:r>
              <a:rPr lang="ko-KR" altLang="en-US" sz="1200"/>
              <a:t>반경</a:t>
            </a:r>
            <a:r>
              <a:rPr lang="en-US" altLang="ko-KR" sz="1200"/>
              <a:t>(</a:t>
            </a:r>
            <a:r>
              <a:rPr lang="ko-KR" altLang="en-US" sz="1200"/>
              <a:t>거리</a:t>
            </a:r>
            <a:r>
              <a:rPr lang="en-US" altLang="ko-KR" sz="1200"/>
              <a:t>) </a:t>
            </a:r>
            <a:r>
              <a:rPr lang="ko-KR" altLang="en-US" sz="1200"/>
              <a:t>정보를 입력 받아 가까운 </a:t>
            </a:r>
            <a:r>
              <a:rPr lang="en-US" altLang="ko-KR" sz="1200"/>
              <a:t>cafe</a:t>
            </a:r>
            <a:r>
              <a:rPr lang="ko-KR" altLang="en-US" sz="1200"/>
              <a:t>정보를 전달 받는다</a:t>
            </a:r>
            <a:r>
              <a:rPr lang="en-US" altLang="ko-KR" sz="12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05471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200D6C-1A00-50AE-695D-C5A0C048C2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Cafe </a:t>
            </a:r>
            <a:r>
              <a:rPr lang="ko-KR" altLang="en-US" sz="3600"/>
              <a:t>등록 및 반경 내 카페 검색 </a:t>
            </a:r>
            <a:r>
              <a:rPr lang="en-US" altLang="ko-KR" sz="3600"/>
              <a:t>- Service (1)</a:t>
            </a:r>
            <a:endParaRPr lang="ko-KR" altLang="en-US" sz="3600"/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362FA9FB-71D1-A120-2E09-7E9501385DAC}"/>
              </a:ext>
            </a:extLst>
          </p:cNvPr>
          <p:cNvGrpSpPr/>
          <p:nvPr/>
        </p:nvGrpSpPr>
        <p:grpSpPr>
          <a:xfrm>
            <a:off x="271825" y="1858397"/>
            <a:ext cx="3077004" cy="3972479"/>
            <a:chOff x="271825" y="1858397"/>
            <a:chExt cx="3077004" cy="3972479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B96989F2-5ACC-F598-69C1-48A3E349479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71825" y="1858397"/>
              <a:ext cx="3077004" cy="3972479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F32C60B2-51EF-0277-8721-17B022234685}"/>
                </a:ext>
              </a:extLst>
            </p:cNvPr>
            <p:cNvSpPr/>
            <p:nvPr/>
          </p:nvSpPr>
          <p:spPr>
            <a:xfrm>
              <a:off x="655782" y="5597236"/>
              <a:ext cx="1209963" cy="2336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8" name="그림 7">
            <a:extLst>
              <a:ext uri="{FF2B5EF4-FFF2-40B4-BE49-F238E27FC236}">
                <a16:creationId xmlns:a16="http://schemas.microsoft.com/office/drawing/2014/main" id="{18153056-A3E7-9ED9-2BA9-5B57B56B9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58073" y="1858397"/>
            <a:ext cx="5806000" cy="2334449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D15314-138C-F95C-85BA-AB8FA41511EC}"/>
              </a:ext>
            </a:extLst>
          </p:cNvPr>
          <p:cNvSpPr txBox="1"/>
          <p:nvPr/>
        </p:nvSpPr>
        <p:spPr>
          <a:xfrm>
            <a:off x="9347200" y="1858397"/>
            <a:ext cx="2572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카페 등록 로직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1A44F2-0E97-77F8-9489-177CEE01BBFA}"/>
              </a:ext>
            </a:extLst>
          </p:cNvPr>
          <p:cNvSpPr txBox="1"/>
          <p:nvPr/>
        </p:nvSpPr>
        <p:spPr>
          <a:xfrm>
            <a:off x="3458073" y="4331855"/>
            <a:ext cx="84621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geoadd cafe </a:t>
            </a:r>
            <a:r>
              <a:rPr lang="ko-KR" altLang="en-US"/>
              <a:t>위도 경도 카페명 </a:t>
            </a:r>
            <a:r>
              <a:rPr lang="en-US" altLang="ko-KR"/>
              <a:t>(EX : geoadd cafe 127.0276 37.4979 a_cafe</a:t>
            </a:r>
          </a:p>
          <a:p>
            <a:r>
              <a:rPr lang="en-US" altLang="ko-KR"/>
              <a:t>SpringFramework</a:t>
            </a:r>
            <a:r>
              <a:rPr lang="ko-KR" altLang="en-US"/>
              <a:t>에서 위도 경도에 대한 </a:t>
            </a:r>
            <a:r>
              <a:rPr lang="en-US" altLang="ko-KR"/>
              <a:t>Point </a:t>
            </a:r>
            <a:r>
              <a:rPr lang="ko-KR" altLang="en-US"/>
              <a:t>클래스를 지원한다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2849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37E421-73D7-9D87-091F-CCD11C4EA8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ko-KR" sz="3600"/>
              <a:t>Cafe </a:t>
            </a:r>
            <a:r>
              <a:rPr lang="ko-KR" altLang="en-US" sz="3600"/>
              <a:t>등록 및 반경 내 카페 검색 </a:t>
            </a:r>
            <a:r>
              <a:rPr lang="en-US" altLang="ko-KR" sz="3600"/>
              <a:t>- Service (2)</a:t>
            </a:r>
            <a:endParaRPr lang="ko-KR" altLang="en-US" sz="360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A80F9A9-998B-0D07-2F1F-0C8AC461D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1941110"/>
            <a:ext cx="6213078" cy="30095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97C6FE4-4A8C-62BE-4D50-3F537C3B72E5}"/>
              </a:ext>
            </a:extLst>
          </p:cNvPr>
          <p:cNvSpPr txBox="1"/>
          <p:nvPr/>
        </p:nvSpPr>
        <p:spPr>
          <a:xfrm>
            <a:off x="7310358" y="1941110"/>
            <a:ext cx="472462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33~36Line : </a:t>
            </a:r>
            <a:br>
              <a:rPr lang="en-US" altLang="ko-KR" sz="1200"/>
            </a:b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newGeoSearchArgs() : geosearch </a:t>
            </a:r>
            <a:r>
              <a:rPr lang="ko-KR" altLang="en-US" sz="1200"/>
              <a:t>명령에 대한 옵션을 셋팅하겠다</a:t>
            </a:r>
            <a:r>
              <a:rPr lang="en-US" altLang="ko-KR" sz="1200"/>
              <a:t>.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includeDistance() : withdist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sortAscending() : withdist </a:t>
            </a:r>
            <a:r>
              <a:rPr lang="ko-KR" altLang="en-US" sz="1200"/>
              <a:t>옵션 앞에 정령 옵션 </a:t>
            </a:r>
            <a:r>
              <a:rPr lang="en-US" altLang="ko-KR" sz="1200"/>
              <a:t>asc</a:t>
            </a:r>
            <a:r>
              <a:rPr lang="ko-KR" altLang="en-US" sz="1200"/>
              <a:t>에 해당</a:t>
            </a:r>
            <a:endParaRPr lang="en-US" altLang="ko-KR" sz="1200"/>
          </a:p>
          <a:p>
            <a:endParaRPr lang="en-US" altLang="ko-KR" sz="1200"/>
          </a:p>
          <a:p>
            <a:r>
              <a:rPr lang="en-US" altLang="ko-KR" sz="1200"/>
              <a:t>38~50Line :</a:t>
            </a:r>
          </a:p>
          <a:p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41Line</a:t>
            </a:r>
            <a:r>
              <a:rPr lang="ko-KR" altLang="en-US" sz="1200"/>
              <a:t> </a:t>
            </a:r>
            <a:r>
              <a:rPr lang="en-US" altLang="ko-KR" sz="1200"/>
              <a:t>: key </a:t>
            </a:r>
            <a:r>
              <a:rPr lang="ko-KR" altLang="en-US" sz="1200"/>
              <a:t>값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42Line : </a:t>
            </a:r>
            <a:r>
              <a:rPr lang="ko-KR" altLang="en-US" sz="1200"/>
              <a:t>나의 위도</a:t>
            </a:r>
            <a:r>
              <a:rPr lang="en-US" altLang="ko-KR" sz="1200"/>
              <a:t>, </a:t>
            </a:r>
            <a:r>
              <a:rPr lang="ko-KR" altLang="en-US" sz="1200"/>
              <a:t>경도 </a:t>
            </a:r>
            <a:r>
              <a:rPr lang="en-US" altLang="ko-KR" sz="1200"/>
              <a:t>(= fromlonlat </a:t>
            </a:r>
            <a:r>
              <a:rPr lang="ko-KR" altLang="en-US" sz="1200"/>
              <a:t>위도 경도</a:t>
            </a:r>
            <a:r>
              <a:rPr lang="en-US" altLang="ko-KR" sz="1200"/>
              <a:t>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43Line : </a:t>
            </a:r>
            <a:r>
              <a:rPr lang="ko-KR" altLang="en-US" sz="1200"/>
              <a:t>반경 값 </a:t>
            </a:r>
            <a:r>
              <a:rPr lang="en-US" altLang="ko-KR" sz="1200"/>
              <a:t>(byredius 1000 m)</a:t>
            </a:r>
          </a:p>
          <a:p>
            <a:pPr marL="171450" indent="-171450">
              <a:buFontTx/>
              <a:buChar char="-"/>
            </a:pPr>
            <a:r>
              <a:rPr lang="en-US" altLang="ko-KR" sz="1200"/>
              <a:t>44Line : </a:t>
            </a:r>
            <a:r>
              <a:rPr lang="ko-KR" altLang="en-US" sz="1200"/>
              <a:t>셋팅한 옵션 적용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45Line : </a:t>
            </a:r>
            <a:r>
              <a:rPr lang="ko-KR" altLang="en-US" sz="1200"/>
              <a:t>반환값 맵핑을 위한 </a:t>
            </a:r>
            <a:r>
              <a:rPr lang="en-US" altLang="ko-KR" sz="1200"/>
              <a:t>geosearch </a:t>
            </a:r>
            <a:r>
              <a:rPr lang="ko-KR" altLang="en-US" sz="1200"/>
              <a:t>반환 내용을 맵핑을 위한 </a:t>
            </a:r>
            <a:r>
              <a:rPr lang="en-US" altLang="ko-KR" sz="1200"/>
              <a:t>steam() </a:t>
            </a:r>
            <a:r>
              <a:rPr lang="ko-KR" altLang="en-US" sz="1200"/>
              <a:t>형태로 변환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46Line : </a:t>
            </a:r>
            <a:r>
              <a:rPr lang="ko-KR" altLang="en-US" sz="1200"/>
              <a:t>반환 결과 </a:t>
            </a:r>
            <a:r>
              <a:rPr lang="en-US" altLang="ko-KR" sz="1200"/>
              <a:t>Stream</a:t>
            </a:r>
            <a:r>
              <a:rPr lang="ko-KR" altLang="en-US" sz="1200"/>
              <a:t>을 </a:t>
            </a:r>
            <a:r>
              <a:rPr lang="en-US" altLang="ko-KR" sz="1200"/>
              <a:t>CafeDistance Dto</a:t>
            </a:r>
            <a:r>
              <a:rPr lang="ko-KR" altLang="en-US" sz="1200"/>
              <a:t>로 맵핑</a:t>
            </a:r>
            <a:endParaRPr lang="en-US" altLang="ko-KR" sz="1200"/>
          </a:p>
          <a:p>
            <a:pPr marL="171450" indent="-171450">
              <a:buFontTx/>
              <a:buChar char="-"/>
            </a:pPr>
            <a:r>
              <a:rPr lang="en-US" altLang="ko-KR" sz="1200"/>
              <a:t>50Line : </a:t>
            </a:r>
            <a:r>
              <a:rPr lang="ko-KR" altLang="en-US" sz="1200"/>
              <a:t>맵핑한 정보들을 모아 리스트화</a:t>
            </a:r>
            <a:endParaRPr lang="en-US" altLang="ko-KR" sz="1200"/>
          </a:p>
          <a:p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C914477-A399-08B0-8670-81BA6624AE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5172764"/>
            <a:ext cx="6697010" cy="25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7062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06E472-E5A5-DD8E-C4E5-03C978D47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테스트 전 등록된 </a:t>
            </a:r>
            <a:r>
              <a:rPr lang="en-US" altLang="ko-KR"/>
              <a:t>Key </a:t>
            </a:r>
            <a:r>
              <a:rPr lang="ko-KR" altLang="en-US"/>
              <a:t>삭제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216C01FC-078F-338F-7C4D-48AB8F808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329497"/>
            <a:ext cx="2191056" cy="123842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87CCEEE-FC41-3C3A-EF88-54E96B372FDB}"/>
              </a:ext>
            </a:extLst>
          </p:cNvPr>
          <p:cNvSpPr txBox="1"/>
          <p:nvPr/>
        </p:nvSpPr>
        <p:spPr>
          <a:xfrm>
            <a:off x="1097280" y="1848763"/>
            <a:ext cx="38626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redis-cli</a:t>
            </a:r>
            <a:r>
              <a:rPr lang="ko-KR" altLang="en-US"/>
              <a:t> 환경</a:t>
            </a:r>
          </a:p>
        </p:txBody>
      </p:sp>
    </p:spTree>
    <p:extLst>
      <p:ext uri="{BB962C8B-B14F-4D97-AF65-F5344CB8AC3E}">
        <p14:creationId xmlns:p14="http://schemas.microsoft.com/office/powerpoint/2010/main" val="820952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B526BE-5499-B4F0-00D7-D45042A7BA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카페 등록 하기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93C3A2EC-1CC5-BEB5-8605-B024B63B3B09}"/>
              </a:ext>
            </a:extLst>
          </p:cNvPr>
          <p:cNvGrpSpPr/>
          <p:nvPr/>
        </p:nvGrpSpPr>
        <p:grpSpPr>
          <a:xfrm>
            <a:off x="410702" y="1892489"/>
            <a:ext cx="2448267" cy="1201693"/>
            <a:chOff x="410702" y="1892489"/>
            <a:chExt cx="2448267" cy="1201693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78BB0093-0AED-DFA2-8FCF-583C3DC55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b="15904"/>
            <a:stretch>
              <a:fillRect/>
            </a:stretch>
          </p:blipFill>
          <p:spPr>
            <a:xfrm>
              <a:off x="410702" y="1892489"/>
              <a:ext cx="2448267" cy="1201693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A87929F2-BC2E-5165-9A41-BCD15E2604E7}"/>
                </a:ext>
              </a:extLst>
            </p:cNvPr>
            <p:cNvSpPr/>
            <p:nvPr/>
          </p:nvSpPr>
          <p:spPr>
            <a:xfrm>
              <a:off x="757382" y="2493335"/>
              <a:ext cx="1237673" cy="25910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14" name="그림 13">
            <a:extLst>
              <a:ext uri="{FF2B5EF4-FFF2-40B4-BE49-F238E27FC236}">
                <a16:creationId xmlns:a16="http://schemas.microsoft.com/office/drawing/2014/main" id="{4683685A-EE91-AFA1-A428-F35B472BA3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3318" y="1895556"/>
            <a:ext cx="5906324" cy="134321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55E77B7-F46F-8604-CDDE-36EFBBB264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7158" y="3499202"/>
            <a:ext cx="3040894" cy="1152686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8195B663-8AF2-92BE-25AC-AB8DA96CF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73318" y="3499203"/>
            <a:ext cx="2619741" cy="115268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F33EA84-A24F-58C1-4919-0BAF5B5DAC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00310" y="3499202"/>
            <a:ext cx="2689597" cy="115268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81E75D30-CD00-F650-35C1-3DC31028BF9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73318" y="4912324"/>
            <a:ext cx="2619741" cy="41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6363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1EFB14-0928-E743-85F5-06E4CE1E71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반경 내 카페 검색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9CEC9D-3011-3CBB-C841-BB1F842C0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3445" y="4591929"/>
            <a:ext cx="8602275" cy="1057423"/>
          </a:xfrm>
          <a:prstGeom prst="rect">
            <a:avLst/>
          </a:prstGeom>
        </p:spPr>
      </p:pic>
      <p:grpSp>
        <p:nvGrpSpPr>
          <p:cNvPr id="8" name="그룹 7">
            <a:extLst>
              <a:ext uri="{FF2B5EF4-FFF2-40B4-BE49-F238E27FC236}">
                <a16:creationId xmlns:a16="http://schemas.microsoft.com/office/drawing/2014/main" id="{9CB16B96-AE8C-4CD2-1261-2EDF64F867DC}"/>
              </a:ext>
            </a:extLst>
          </p:cNvPr>
          <p:cNvGrpSpPr/>
          <p:nvPr/>
        </p:nvGrpSpPr>
        <p:grpSpPr>
          <a:xfrm>
            <a:off x="1183445" y="1904250"/>
            <a:ext cx="5687219" cy="2476846"/>
            <a:chOff x="1183445" y="1904250"/>
            <a:chExt cx="5687219" cy="2476846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69994964-69F6-67FF-60BA-22D1CC3042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83445" y="1904250"/>
              <a:ext cx="5687219" cy="2476846"/>
            </a:xfrm>
            <a:prstGeom prst="rect">
              <a:avLst/>
            </a:prstGeom>
          </p:spPr>
        </p:pic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A1C0E99-4D0C-89C0-072F-2D72D724EA0C}"/>
                </a:ext>
              </a:extLst>
            </p:cNvPr>
            <p:cNvSpPr/>
            <p:nvPr/>
          </p:nvSpPr>
          <p:spPr>
            <a:xfrm>
              <a:off x="1348509" y="3325091"/>
              <a:ext cx="5135418" cy="65578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2879CA42-7375-0E20-4F92-C8746162A510}"/>
              </a:ext>
            </a:extLst>
          </p:cNvPr>
          <p:cNvSpPr/>
          <p:nvPr/>
        </p:nvSpPr>
        <p:spPr>
          <a:xfrm>
            <a:off x="1348509" y="3980872"/>
            <a:ext cx="5135418" cy="34238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B3B3FE5-3654-0686-6417-9EAB9DC9AC55}"/>
              </a:ext>
            </a:extLst>
          </p:cNvPr>
          <p:cNvSpPr txBox="1"/>
          <p:nvPr/>
        </p:nvSpPr>
        <p:spPr>
          <a:xfrm>
            <a:off x="7250545" y="2549236"/>
            <a:ext cx="41194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longitude : </a:t>
            </a:r>
            <a:r>
              <a:rPr lang="ko-KR" altLang="en-US"/>
              <a:t>내 경도</a:t>
            </a:r>
            <a:endParaRPr lang="en-US" altLang="ko-KR"/>
          </a:p>
          <a:p>
            <a:r>
              <a:rPr lang="en-US" altLang="ko-KR"/>
              <a:t>latitude : </a:t>
            </a:r>
            <a:r>
              <a:rPr lang="ko-KR" altLang="en-US"/>
              <a:t>내 위도</a:t>
            </a:r>
            <a:endParaRPr lang="en-US" altLang="ko-KR"/>
          </a:p>
          <a:p>
            <a:r>
              <a:rPr lang="en-US" altLang="ko-KR"/>
              <a:t>distance : </a:t>
            </a:r>
            <a:r>
              <a:rPr lang="ko-KR" altLang="en-US"/>
              <a:t>반경 </a:t>
            </a:r>
            <a:r>
              <a:rPr lang="en-US" altLang="ko-KR"/>
              <a:t>1km</a:t>
            </a:r>
          </a:p>
          <a:p>
            <a:endParaRPr lang="en-US" altLang="ko-KR"/>
          </a:p>
          <a:p>
            <a:r>
              <a:rPr lang="ko-KR" altLang="en-US"/>
              <a:t>결과를 보면 거리가 가까운 순으로 정렬되어 검색된다</a:t>
            </a:r>
            <a:r>
              <a:rPr lang="en-US" altLang="ko-KR"/>
              <a:t>.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4566923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177</TotalTime>
  <Words>308</Words>
  <Application>Microsoft Office PowerPoint</Application>
  <PresentationFormat>와이드스크린</PresentationFormat>
  <Paragraphs>52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1" baseType="lpstr">
      <vt:lpstr>Calibri</vt:lpstr>
      <vt:lpstr>Calibri Light</vt:lpstr>
      <vt:lpstr>추억</vt:lpstr>
      <vt:lpstr>내 위치 기준 1Km 카페 찾기</vt:lpstr>
      <vt:lpstr>GeoSpatial 자료구조 살펴보기</vt:lpstr>
      <vt:lpstr>Cafe 등록 및 반경 내 카페 검색-Controller</vt:lpstr>
      <vt:lpstr>Cafe 등록 및 반경 내 카페 검색 - Service (1)</vt:lpstr>
      <vt:lpstr>Cafe 등록 및 반경 내 카페 검색 - Service (2)</vt:lpstr>
      <vt:lpstr>테스트 전 등록된 Key 삭제</vt:lpstr>
      <vt:lpstr>카페 등록 하기</vt:lpstr>
      <vt:lpstr>반경 내 카페 검색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25</cp:revision>
  <dcterms:created xsi:type="dcterms:W3CDTF">2026-08-29T08:20:40Z</dcterms:created>
  <dcterms:modified xsi:type="dcterms:W3CDTF">2026-08-29T11:18:15Z</dcterms:modified>
</cp:coreProperties>
</file>