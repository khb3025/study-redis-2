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17F7748-D398-4E4E-B620-21AE9C7894B8}">
          <p14:sldIdLst>
            <p14:sldId id="256"/>
            <p14:sldId id="257"/>
            <p14:sldId id="259"/>
            <p14:sldId id="258"/>
            <p14:sldId id="260"/>
          </p14:sldIdLst>
        </p14:section>
        <p14:section name="DB로 DAU 기능 구현 및 부하테스트" id="{38902D41-C875-4291-9BB2-29963AC543A9}">
          <p14:sldIdLst>
            <p14:sldId id="261"/>
            <p14:sldId id="262"/>
            <p14:sldId id="263"/>
            <p14:sldId id="264"/>
          </p14:sldIdLst>
        </p14:section>
        <p14:section name="DAU 기능 Redis Set 구현" id="{D28EBE0D-5D5A-4DFA-BBF7-A4D8E6D65AFB}">
          <p14:sldIdLst>
            <p14:sldId id="265"/>
            <p14:sldId id="266"/>
            <p14:sldId id="267"/>
            <p14:sldId id="268"/>
          </p14:sldIdLst>
        </p14:section>
        <p14:section name="BITMAP으로 DAU 구현" id="{5AF70207-62EE-4CAF-A2C5-EB2DE11FBCD2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68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0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9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5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59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95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1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21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94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90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3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F6FB1C-CF57-43EB-90A8-30BC96A0A7C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C9DCD9-8431-4675-915F-4C894D00273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45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3F011-160F-7407-6ABB-0E6BD06D1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하루동안 서비스에 접속한 사용자 수</a:t>
            </a:r>
            <a:br>
              <a:rPr lang="en-US" altLang="ko-KR" sz="4400"/>
            </a:br>
            <a:r>
              <a:rPr lang="en-US" altLang="ko-KR" sz="4400"/>
              <a:t>DAU </a:t>
            </a:r>
            <a:r>
              <a:rPr lang="ko-KR" altLang="en-US" sz="4400"/>
              <a:t>카운팅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32B374-FC3A-61AA-C193-522843E76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SET </a:t>
            </a:r>
            <a:r>
              <a:rPr lang="ko-KR" altLang="en-US"/>
              <a:t>자료구조 </a:t>
            </a:r>
            <a:r>
              <a:rPr lang="en-US" altLang="ko-KR"/>
              <a:t>or BITMAP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55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E445B-383F-6F13-9778-7E65E764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SET </a:t>
            </a:r>
            <a:r>
              <a:rPr lang="ko-KR" altLang="en-US"/>
              <a:t>자료구조 명령어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4DA56-A6BE-B073-1FD3-B3FAC91CE3BF}"/>
              </a:ext>
            </a:extLst>
          </p:cNvPr>
          <p:cNvSpPr txBox="1"/>
          <p:nvPr/>
        </p:nvSpPr>
        <p:spPr>
          <a:xfrm>
            <a:off x="1062182" y="1911927"/>
            <a:ext cx="100676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SET </a:t>
            </a:r>
            <a:r>
              <a:rPr lang="ko-KR" altLang="en-US"/>
              <a:t>자료구조에 데이터 넣기</a:t>
            </a:r>
            <a:endParaRPr lang="en-US" altLang="ko-KR"/>
          </a:p>
          <a:p>
            <a:r>
              <a:rPr lang="en-US" altLang="ko-KR"/>
              <a:t>SADD member</a:t>
            </a:r>
            <a:r>
              <a:rPr lang="ko-KR" altLang="en-US"/>
              <a:t> </a:t>
            </a:r>
            <a:r>
              <a:rPr lang="en-US" altLang="ko-KR"/>
              <a:t>jihoon</a:t>
            </a:r>
          </a:p>
          <a:p>
            <a:r>
              <a:rPr lang="en-US" altLang="ko-KR"/>
              <a:t>SADD member hobin jaeseong</a:t>
            </a:r>
          </a:p>
          <a:p>
            <a:r>
              <a:rPr lang="en-US" altLang="ko-KR"/>
              <a:t>SADD member jihoon hobin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SET</a:t>
            </a:r>
            <a:r>
              <a:rPr lang="ko-KR" altLang="en-US"/>
              <a:t>에 등록된 </a:t>
            </a:r>
            <a:r>
              <a:rPr lang="en-US" altLang="ko-KR"/>
              <a:t>member (Key) </a:t>
            </a:r>
            <a:r>
              <a:rPr lang="ko-KR" altLang="en-US"/>
              <a:t>정보조회</a:t>
            </a:r>
            <a:endParaRPr lang="en-US" altLang="ko-KR"/>
          </a:p>
          <a:p>
            <a:r>
              <a:rPr lang="en-US" altLang="ko-KR"/>
              <a:t>SMembers member 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SET</a:t>
            </a:r>
            <a:r>
              <a:rPr lang="ko-KR" altLang="en-US"/>
              <a:t>에 등록된 </a:t>
            </a:r>
            <a:r>
              <a:rPr lang="en-US" altLang="ko-KR"/>
              <a:t>member (Key)</a:t>
            </a:r>
            <a:r>
              <a:rPr lang="ko-KR" altLang="en-US"/>
              <a:t> 카운트 정보</a:t>
            </a:r>
            <a:endParaRPr lang="en-US" altLang="ko-KR"/>
          </a:p>
          <a:p>
            <a:r>
              <a:rPr lang="en-US" altLang="ko-KR"/>
              <a:t>SCARD member</a:t>
            </a:r>
          </a:p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6CA57BE-5CF8-B5B5-D67C-798BE64006CD}"/>
              </a:ext>
            </a:extLst>
          </p:cNvPr>
          <p:cNvGrpSpPr/>
          <p:nvPr/>
        </p:nvGrpSpPr>
        <p:grpSpPr>
          <a:xfrm>
            <a:off x="6757905" y="1911927"/>
            <a:ext cx="3238952" cy="2861415"/>
            <a:chOff x="4882924" y="1911927"/>
            <a:chExt cx="3238952" cy="28614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0A668AD-5983-440D-E9BD-6EB1B104D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2924" y="1911927"/>
              <a:ext cx="3238952" cy="74305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09D8E2B-97BA-E659-DDA6-F9342EB3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361"/>
            <a:stretch>
              <a:fillRect/>
            </a:stretch>
          </p:blipFill>
          <p:spPr>
            <a:xfrm>
              <a:off x="4882924" y="2654982"/>
              <a:ext cx="2055795" cy="96567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983C114-50FE-D935-9B92-89D5C7FE3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2924" y="3620656"/>
              <a:ext cx="2410161" cy="1152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7125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149D2-6270-9C92-CDBC-D4A3EC54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BITMAP </a:t>
            </a:r>
            <a:r>
              <a:rPr lang="ko-KR" altLang="en-US"/>
              <a:t>자료구조 특징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5376F1-65E1-05F7-4E6A-C86D8E27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85" y="1889418"/>
            <a:ext cx="5594845" cy="42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3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FF3E8-BB26-215F-A190-7CA6BB79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BITMAP </a:t>
            </a:r>
            <a:r>
              <a:rPr lang="ko-KR" altLang="en-US"/>
              <a:t>자료구조 명령어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93D5B-C521-3DF9-088E-29EFB3064211}"/>
              </a:ext>
            </a:extLst>
          </p:cNvPr>
          <p:cNvSpPr txBox="1"/>
          <p:nvPr/>
        </p:nvSpPr>
        <p:spPr>
          <a:xfrm>
            <a:off x="1062182" y="1911927"/>
            <a:ext cx="100676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BITMAP </a:t>
            </a:r>
            <a:r>
              <a:rPr lang="ko-KR" altLang="en-US"/>
              <a:t>자료구조에 데이터 넣기</a:t>
            </a:r>
            <a:endParaRPr lang="en-US" altLang="ko-KR"/>
          </a:p>
          <a:p>
            <a:r>
              <a:rPr lang="en-US" altLang="ko-KR"/>
              <a:t>SETBIT user:attend 4 1</a:t>
            </a:r>
          </a:p>
          <a:p>
            <a:r>
              <a:rPr lang="en-US" altLang="ko-KR"/>
              <a:t>SETBIT user:attend 7 1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BITMAP</a:t>
            </a:r>
            <a:r>
              <a:rPr lang="ko-KR" altLang="en-US"/>
              <a:t>에 등록되지 않은 정보조회</a:t>
            </a:r>
            <a:endParaRPr lang="en-US" altLang="ko-KR"/>
          </a:p>
          <a:p>
            <a:r>
              <a:rPr lang="en-US" altLang="ko-KR"/>
              <a:t>GETBIT user:attend 2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BITMAP</a:t>
            </a:r>
            <a:r>
              <a:rPr lang="ko-KR" altLang="en-US"/>
              <a:t>에 등록된 정보조회</a:t>
            </a:r>
            <a:endParaRPr lang="en-US" altLang="ko-KR"/>
          </a:p>
          <a:p>
            <a:r>
              <a:rPr lang="en-US" altLang="ko-KR"/>
              <a:t>GETBIT</a:t>
            </a:r>
            <a:r>
              <a:rPr lang="ko-KR" altLang="en-US"/>
              <a:t> </a:t>
            </a:r>
            <a:r>
              <a:rPr lang="en-US" altLang="ko-KR"/>
              <a:t>user:attend</a:t>
            </a:r>
            <a:r>
              <a:rPr lang="ko-KR" altLang="en-US"/>
              <a:t> </a:t>
            </a:r>
            <a:r>
              <a:rPr lang="en-US" altLang="ko-KR"/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BITMAP</a:t>
            </a:r>
            <a:r>
              <a:rPr lang="ko-KR" altLang="en-US"/>
              <a:t>에 </a:t>
            </a:r>
            <a:r>
              <a:rPr lang="en-US" altLang="ko-KR"/>
              <a:t>value</a:t>
            </a:r>
            <a:r>
              <a:rPr lang="ko-KR" altLang="en-US"/>
              <a:t>가 </a:t>
            </a:r>
            <a:r>
              <a:rPr lang="en-US" altLang="ko-KR"/>
              <a:t>true(1)</a:t>
            </a:r>
            <a:r>
              <a:rPr lang="ko-KR" altLang="en-US"/>
              <a:t>인 </a:t>
            </a:r>
            <a:r>
              <a:rPr lang="en-US" altLang="ko-KR"/>
              <a:t>offset </a:t>
            </a:r>
            <a:r>
              <a:rPr lang="ko-KR" altLang="en-US"/>
              <a:t>수</a:t>
            </a:r>
            <a:endParaRPr lang="en-US" altLang="ko-KR"/>
          </a:p>
          <a:p>
            <a:r>
              <a:rPr lang="en-US" altLang="ko-KR"/>
              <a:t>BITCOUNT</a:t>
            </a:r>
            <a:r>
              <a:rPr lang="ko-KR" altLang="en-US"/>
              <a:t> </a:t>
            </a:r>
            <a:r>
              <a:rPr lang="en-US" altLang="ko-KR"/>
              <a:t>user:attend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8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6B3C0-EF5A-4BA2-402B-4331E525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SET </a:t>
            </a:r>
            <a:r>
              <a:rPr lang="ko-KR" altLang="en-US"/>
              <a:t>과 </a:t>
            </a:r>
            <a:r>
              <a:rPr lang="en-US" altLang="ko-KR"/>
              <a:t>BITMAP</a:t>
            </a:r>
            <a:r>
              <a:rPr lang="ko-KR" altLang="en-US"/>
              <a:t>의 특징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3A4066-CC11-1461-7842-C99CBEEB5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54" y="1790635"/>
            <a:ext cx="6604464" cy="49224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629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C64D9-A35E-1D56-6054-17E3C3F8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방문 기록 저장 및 </a:t>
            </a:r>
            <a:r>
              <a:rPr lang="en-US" altLang="ko-KR" sz="3600"/>
              <a:t>DAU </a:t>
            </a:r>
            <a:r>
              <a:rPr lang="ko-KR" altLang="en-US" sz="3600"/>
              <a:t>카운트 조회 </a:t>
            </a:r>
            <a:r>
              <a:rPr lang="en-US" altLang="ko-KR" sz="3600"/>
              <a:t>- Controller</a:t>
            </a:r>
            <a:endParaRPr lang="ko-KR" altLang="en-US" sz="36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28D0E7-C4C7-6B88-1C11-EA331C01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164" y="1940078"/>
            <a:ext cx="5156491" cy="35874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384667-C27C-9B65-4DEE-215072D6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333" y="1940078"/>
            <a:ext cx="3094366" cy="877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0F15B3-99CB-F4D1-B28F-6145A4929ADC}"/>
              </a:ext>
            </a:extLst>
          </p:cNvPr>
          <p:cNvSpPr txBox="1"/>
          <p:nvPr/>
        </p:nvSpPr>
        <p:spPr>
          <a:xfrm>
            <a:off x="8717333" y="2937164"/>
            <a:ext cx="3289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21~26Line</a:t>
            </a:r>
            <a:r>
              <a:rPr lang="ko-KR" altLang="en-US" sz="1200"/>
              <a:t> </a:t>
            </a:r>
            <a:r>
              <a:rPr lang="en-US" altLang="ko-KR" sz="1200"/>
              <a:t>:</a:t>
            </a:r>
            <a:r>
              <a:rPr lang="ko-KR" altLang="en-US" sz="1200"/>
              <a:t> </a:t>
            </a:r>
            <a:r>
              <a:rPr lang="en-US" altLang="ko-KR" sz="1200"/>
              <a:t>userId</a:t>
            </a:r>
            <a:r>
              <a:rPr lang="ko-KR" altLang="en-US" sz="1200"/>
              <a:t>만을 받아 특정 사용자의 </a:t>
            </a:r>
            <a:br>
              <a:rPr lang="en-US" altLang="ko-KR" sz="1200"/>
            </a:br>
            <a:r>
              <a:rPr lang="ko-KR" altLang="en-US" sz="1200"/>
              <a:t>방문 기록을 남기는 </a:t>
            </a:r>
            <a:r>
              <a:rPr lang="en-US" altLang="ko-KR" sz="1200"/>
              <a:t>API </a:t>
            </a:r>
            <a:r>
              <a:rPr lang="ko-KR" altLang="en-US" sz="1200"/>
              <a:t>요청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29~36Line : </a:t>
            </a:r>
            <a:r>
              <a:rPr lang="ko-KR" altLang="en-US" sz="1200"/>
              <a:t>하루동안 방문한 </a:t>
            </a:r>
            <a:r>
              <a:rPr lang="en-US" altLang="ko-KR" sz="1200"/>
              <a:t>DAU </a:t>
            </a:r>
            <a:r>
              <a:rPr lang="ko-KR" altLang="en-US" sz="1200"/>
              <a:t>수를 반환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B178897-3F70-13BE-8C64-AAC75503AC52}"/>
              </a:ext>
            </a:extLst>
          </p:cNvPr>
          <p:cNvGrpSpPr/>
          <p:nvPr/>
        </p:nvGrpSpPr>
        <p:grpSpPr>
          <a:xfrm>
            <a:off x="309641" y="1914271"/>
            <a:ext cx="3019846" cy="3639058"/>
            <a:chOff x="309641" y="1914271"/>
            <a:chExt cx="3019846" cy="363905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1B59B53-2CF9-8C92-3BEE-726C5724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9641" y="1914271"/>
              <a:ext cx="3019846" cy="363905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ADDD613-C7CE-2FF3-B28E-CF58FAF5CFFC}"/>
                </a:ext>
              </a:extLst>
            </p:cNvPr>
            <p:cNvSpPr/>
            <p:nvPr/>
          </p:nvSpPr>
          <p:spPr>
            <a:xfrm>
              <a:off x="637309" y="4692073"/>
              <a:ext cx="2078182" cy="2309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386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73B74-2E5E-2B29-1970-CA60DDF9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방문 기록 저장 및 </a:t>
            </a:r>
            <a:r>
              <a:rPr lang="en-US" altLang="ko-KR" sz="4000"/>
              <a:t>DAU </a:t>
            </a:r>
            <a:r>
              <a:rPr lang="ko-KR" altLang="en-US" sz="4000"/>
              <a:t>카운트 조회 </a:t>
            </a:r>
            <a:r>
              <a:rPr lang="en-US" altLang="ko-KR" sz="4000"/>
              <a:t>- Service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DCFA49-5FC4-C0D7-E9FC-2F1AFF31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75" y="1914271"/>
            <a:ext cx="4909242" cy="32269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4082A5-EC2C-98CF-8231-AD2A8694B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41" y="1914271"/>
            <a:ext cx="3019846" cy="36390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D009CEB-CFFD-F3AF-25D1-5C8ADAB2C931}"/>
              </a:ext>
            </a:extLst>
          </p:cNvPr>
          <p:cNvSpPr/>
          <p:nvPr/>
        </p:nvSpPr>
        <p:spPr>
          <a:xfrm>
            <a:off x="637309" y="5130801"/>
            <a:ext cx="1819564" cy="230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E76C8-D948-E22A-9A4A-08A659230429}"/>
              </a:ext>
            </a:extLst>
          </p:cNvPr>
          <p:cNvSpPr txBox="1"/>
          <p:nvPr/>
        </p:nvSpPr>
        <p:spPr>
          <a:xfrm>
            <a:off x="8335217" y="1914271"/>
            <a:ext cx="37367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18Line : existsByUserIdAndCreateDate</a:t>
            </a:r>
            <a:br>
              <a:rPr lang="en-US" altLang="ko-KR" sz="1200"/>
            </a:br>
            <a:r>
              <a:rPr lang="en-US" altLang="ko-KR" sz="1200"/>
              <a:t>               DATA JPA</a:t>
            </a:r>
            <a:r>
              <a:rPr lang="ko-KR" altLang="en-US" sz="1200"/>
              <a:t> 작명 규칙에 의해 동작하는 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활동 날자에 유저아이디가 존재하는지 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확인하는 메소드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활동 날짜에 유저아이디가 존재하지 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않는다면 저장하지 않고 메소드를 종료한다</a:t>
            </a:r>
            <a:endParaRPr lang="en-US" altLang="ko-KR" sz="1200"/>
          </a:p>
          <a:p>
            <a:r>
              <a:rPr lang="en-US" altLang="ko-KR" sz="1200"/>
              <a:t>20Line</a:t>
            </a:r>
            <a:r>
              <a:rPr lang="ko-KR" altLang="en-US" sz="1200"/>
              <a:t> </a:t>
            </a:r>
            <a:r>
              <a:rPr lang="en-US" altLang="ko-KR" sz="1200"/>
              <a:t>:</a:t>
            </a:r>
            <a:r>
              <a:rPr lang="ko-KR" altLang="en-US" sz="1200"/>
              <a:t> </a:t>
            </a:r>
            <a:r>
              <a:rPr lang="en-US" altLang="ko-KR" sz="1200"/>
              <a:t>activeDate </a:t>
            </a:r>
            <a:r>
              <a:rPr lang="ko-KR" altLang="en-US" sz="1200"/>
              <a:t>와 </a:t>
            </a:r>
            <a:r>
              <a:rPr lang="en-US" altLang="ko-KR" sz="1200"/>
              <a:t>UserId </a:t>
            </a:r>
            <a:r>
              <a:rPr lang="ko-KR" altLang="en-US" sz="1200"/>
              <a:t>로 조회한 데이터가 </a:t>
            </a:r>
            <a:br>
              <a:rPr lang="en-US" altLang="ko-KR" sz="1200"/>
            </a:br>
            <a:r>
              <a:rPr lang="en-US" altLang="ko-KR" sz="1200"/>
              <a:t>              </a:t>
            </a:r>
            <a:r>
              <a:rPr lang="ko-KR" altLang="en-US" sz="1200"/>
              <a:t>없을 시 </a:t>
            </a:r>
            <a:r>
              <a:rPr lang="en-US" altLang="ko-KR" sz="1200"/>
              <a:t>DailyActiveUser </a:t>
            </a:r>
            <a:r>
              <a:rPr lang="ko-KR" altLang="en-US" sz="1200"/>
              <a:t>엔티티를 </a:t>
            </a:r>
            <a:br>
              <a:rPr lang="en-US" altLang="ko-KR" sz="1200"/>
            </a:br>
            <a:r>
              <a:rPr lang="en-US" altLang="ko-KR" sz="1200"/>
              <a:t>              </a:t>
            </a:r>
            <a:r>
              <a:rPr lang="ko-KR" altLang="en-US" sz="1200"/>
              <a:t>신규 등록하는 코드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25~28Line : </a:t>
            </a:r>
            <a:r>
              <a:rPr lang="ko-KR" altLang="en-US" sz="1200"/>
              <a:t>조회한 날짜의 </a:t>
            </a:r>
            <a:r>
              <a:rPr lang="en-US" altLang="ko-KR" sz="1200"/>
              <a:t>DAU </a:t>
            </a:r>
            <a:r>
              <a:rPr lang="ko-KR" altLang="en-US" sz="1200"/>
              <a:t>카운트 수를 반환</a:t>
            </a:r>
          </a:p>
        </p:txBody>
      </p:sp>
    </p:spTree>
    <p:extLst>
      <p:ext uri="{BB962C8B-B14F-4D97-AF65-F5344CB8AC3E}">
        <p14:creationId xmlns:p14="http://schemas.microsoft.com/office/powerpoint/2010/main" val="24127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D7777-49B2-3F3F-25DF-0F252BC7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k6</a:t>
            </a:r>
            <a:r>
              <a:rPr lang="ko-KR" altLang="en-US" sz="4000"/>
              <a:t> 부하 테스트 </a:t>
            </a:r>
            <a:r>
              <a:rPr lang="en-US" altLang="ko-KR" sz="4000"/>
              <a:t>- </a:t>
            </a:r>
            <a:r>
              <a:rPr lang="ko-KR" altLang="en-US" sz="4000"/>
              <a:t>방문 기록 및 </a:t>
            </a:r>
            <a:r>
              <a:rPr lang="en-US" altLang="ko-KR" sz="4000"/>
              <a:t>DAU</a:t>
            </a:r>
            <a:r>
              <a:rPr lang="ko-KR" altLang="en-US" sz="4000"/>
              <a:t>확인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52B8CD1-FFB7-8BC0-135D-D146FCB9CE33}"/>
              </a:ext>
            </a:extLst>
          </p:cNvPr>
          <p:cNvGrpSpPr/>
          <p:nvPr/>
        </p:nvGrpSpPr>
        <p:grpSpPr>
          <a:xfrm>
            <a:off x="484925" y="1843584"/>
            <a:ext cx="1819529" cy="3277057"/>
            <a:chOff x="484925" y="1843584"/>
            <a:chExt cx="1819529" cy="327705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8A5F171-A3CE-C687-7505-863A72AD7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925" y="1843584"/>
              <a:ext cx="1819529" cy="327705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887694A-3316-8BC7-5FD6-E999D3136A6B}"/>
                </a:ext>
              </a:extLst>
            </p:cNvPr>
            <p:cNvSpPr/>
            <p:nvPr/>
          </p:nvSpPr>
          <p:spPr>
            <a:xfrm>
              <a:off x="637309" y="4645892"/>
              <a:ext cx="1052946" cy="2309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D7073C0-D39D-AD26-04EF-D8790DF2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838" y="1843584"/>
            <a:ext cx="5258445" cy="4993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4F052F-555A-CE65-3818-C72D2EA53FD7}"/>
              </a:ext>
            </a:extLst>
          </p:cNvPr>
          <p:cNvSpPr txBox="1"/>
          <p:nvPr/>
        </p:nvSpPr>
        <p:spPr>
          <a:xfrm>
            <a:off x="7804727" y="1843584"/>
            <a:ext cx="41933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11Line</a:t>
            </a:r>
            <a:r>
              <a:rPr lang="ko-KR" altLang="en-US" sz="1200"/>
              <a:t> </a:t>
            </a:r>
            <a:r>
              <a:rPr lang="en-US" altLang="ko-KR" sz="1200"/>
              <a:t>:</a:t>
            </a:r>
            <a:r>
              <a:rPr lang="ko-KR" altLang="en-US" sz="1200"/>
              <a:t> </a:t>
            </a:r>
            <a:r>
              <a:rPr lang="en-US" altLang="ko-KR" sz="1200"/>
              <a:t>1~100000</a:t>
            </a:r>
            <a:r>
              <a:rPr lang="ko-KR" altLang="en-US" sz="1200"/>
              <a:t> 사이의 랜덤 </a:t>
            </a:r>
            <a:r>
              <a:rPr lang="en-US" altLang="ko-KR" sz="1200"/>
              <a:t>UserId </a:t>
            </a:r>
            <a:r>
              <a:rPr lang="ko-KR" altLang="en-US" sz="1200"/>
              <a:t>를 할당 받음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1000</a:t>
            </a:r>
            <a:r>
              <a:rPr lang="ko-KR" altLang="en-US" sz="1200"/>
              <a:t>명의 </a:t>
            </a:r>
            <a:r>
              <a:rPr lang="en-US" altLang="ko-KR" sz="1200"/>
              <a:t>VUS</a:t>
            </a:r>
            <a:r>
              <a:rPr lang="ko-KR" altLang="en-US" sz="1200"/>
              <a:t>가 </a:t>
            </a:r>
            <a:r>
              <a:rPr lang="en-US" altLang="ko-KR" sz="1200"/>
              <a:t>10</a:t>
            </a:r>
            <a:r>
              <a:rPr lang="ko-KR" altLang="en-US" sz="1200"/>
              <a:t>초동안 요청을 전달 함으로써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하루에 여러번 동일한 </a:t>
            </a:r>
            <a:r>
              <a:rPr lang="en-US" altLang="ko-KR" sz="1200"/>
              <a:t>userId</a:t>
            </a:r>
            <a:r>
              <a:rPr lang="ko-KR" altLang="en-US" sz="1200"/>
              <a:t>의 접속도 부하테스트에 </a:t>
            </a:r>
            <a:br>
              <a:rPr lang="en-US" altLang="ko-KR" sz="1200"/>
            </a:br>
            <a:r>
              <a:rPr lang="en-US" altLang="ko-KR" sz="1200"/>
              <a:t>               </a:t>
            </a:r>
            <a:r>
              <a:rPr lang="ko-KR" altLang="en-US" sz="1200"/>
              <a:t>포함됨</a:t>
            </a:r>
            <a:endParaRPr lang="en-US" altLang="ko-KR" sz="1200"/>
          </a:p>
          <a:p>
            <a:r>
              <a:rPr lang="en-US" altLang="ko-KR" sz="1200"/>
              <a:t>12~14Line :  </a:t>
            </a:r>
            <a:r>
              <a:rPr lang="ko-KR" altLang="en-US" sz="1200"/>
              <a:t>활동 기록 </a:t>
            </a:r>
            <a:r>
              <a:rPr lang="en-US" altLang="ko-KR" sz="1200"/>
              <a:t>url </a:t>
            </a:r>
            <a:r>
              <a:rPr lang="ko-KR" altLang="en-US" sz="1200"/>
              <a:t>요청에 대한 파라미터 정보 셋팅</a:t>
            </a:r>
            <a:br>
              <a:rPr lang="en-US" altLang="ko-KR" sz="1200"/>
            </a:br>
            <a:r>
              <a:rPr lang="en-US" altLang="ko-KR" sz="1200"/>
              <a:t>                      ( recordActiveUserRequestDto)</a:t>
            </a:r>
          </a:p>
          <a:p>
            <a:r>
              <a:rPr lang="en-US" altLang="ko-KR" sz="1200"/>
              <a:t>16~20Line : </a:t>
            </a:r>
            <a:r>
              <a:rPr lang="ko-KR" altLang="en-US" sz="1200"/>
              <a:t>요청에 대한 </a:t>
            </a:r>
            <a:r>
              <a:rPr lang="en-US" altLang="ko-KR" sz="1200"/>
              <a:t>header </a:t>
            </a:r>
            <a:r>
              <a:rPr lang="ko-KR" altLang="en-US" sz="1200"/>
              <a:t>파람 정보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24~26Line : check() - </a:t>
            </a:r>
            <a:r>
              <a:rPr lang="ko-KR" altLang="en-US" sz="1200"/>
              <a:t>요청에 대한 응답 정상 도착 </a:t>
            </a:r>
            <a:br>
              <a:rPr lang="en-US" altLang="ko-KR" sz="1200"/>
            </a:br>
            <a:r>
              <a:rPr lang="en-US" altLang="ko-KR" sz="1200"/>
              <a:t>                     </a:t>
            </a:r>
            <a:r>
              <a:rPr lang="ko-KR" altLang="en-US" sz="1200"/>
              <a:t>카운트를 위한 함수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30Line : </a:t>
            </a:r>
            <a:r>
              <a:rPr lang="ko-KR" altLang="en-US" sz="1200"/>
              <a:t>오늘 날짜에서 시간 정보 제외 날짜정보만 추출</a:t>
            </a:r>
            <a:endParaRPr lang="en-US" altLang="ko-KR" sz="1200"/>
          </a:p>
          <a:p>
            <a:r>
              <a:rPr lang="en-US" altLang="ko-KR" sz="1200"/>
              <a:t>31Line : DAU</a:t>
            </a:r>
            <a:r>
              <a:rPr lang="ko-KR" altLang="en-US" sz="1200"/>
              <a:t> 조회 </a:t>
            </a:r>
            <a:r>
              <a:rPr lang="en-US" altLang="ko-KR" sz="1200"/>
              <a:t>API </a:t>
            </a:r>
            <a:r>
              <a:rPr lang="ko-KR" altLang="en-US" sz="1200"/>
              <a:t>요청 </a:t>
            </a:r>
            <a:r>
              <a:rPr lang="en-US" altLang="ko-KR" sz="1200"/>
              <a:t>GET</a:t>
            </a:r>
            <a:r>
              <a:rPr lang="ko-KR" altLang="en-US" sz="1200"/>
              <a:t>방식으로 현재 날짜 전송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33~35Line : DAU </a:t>
            </a:r>
            <a:r>
              <a:rPr lang="ko-KR" altLang="en-US" sz="1200"/>
              <a:t>조회에 대한 성공응답 카운트</a:t>
            </a:r>
          </a:p>
        </p:txBody>
      </p:sp>
    </p:spTree>
    <p:extLst>
      <p:ext uri="{BB962C8B-B14F-4D97-AF65-F5344CB8AC3E}">
        <p14:creationId xmlns:p14="http://schemas.microsoft.com/office/powerpoint/2010/main" val="79940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8A0F0-59E3-9DDF-6C26-A82A9C60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테스트 결과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0A4C1-D1A6-B55B-B3F3-7C06B093DD77}"/>
              </a:ext>
            </a:extLst>
          </p:cNvPr>
          <p:cNvSpPr txBox="1"/>
          <p:nvPr/>
        </p:nvSpPr>
        <p:spPr>
          <a:xfrm>
            <a:off x="1097280" y="1737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k6 run --summary-mode=full scripts\script_4-1.js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FC0D94-4078-1704-00A3-389AD3973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61434"/>
            <a:ext cx="7658793" cy="469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6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93FCA-DBE7-97C3-0492-0F01DABB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DAU </a:t>
            </a:r>
            <a:r>
              <a:rPr lang="ko-KR" altLang="en-US" sz="3600"/>
              <a:t>활동기록 요청 및 조회 </a:t>
            </a:r>
            <a:r>
              <a:rPr lang="en-US" altLang="ko-KR" sz="3600"/>
              <a:t>API </a:t>
            </a:r>
            <a:r>
              <a:rPr lang="ko-KR" altLang="en-US" sz="3600"/>
              <a:t>추가 </a:t>
            </a:r>
            <a:r>
              <a:rPr lang="en-US" altLang="ko-KR" sz="3600"/>
              <a:t>- Contoller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9B7F7D-2975-732B-7DFF-C89767B9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0400"/>
            <a:ext cx="2770247" cy="47526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2D6967-20DA-7524-8A22-CA1AC268C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147" y="1930400"/>
            <a:ext cx="6240689" cy="2834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169E5E-9209-8324-122F-0F21130DDBE5}"/>
              </a:ext>
            </a:extLst>
          </p:cNvPr>
          <p:cNvSpPr txBox="1"/>
          <p:nvPr/>
        </p:nvSpPr>
        <p:spPr>
          <a:xfrm>
            <a:off x="4030147" y="4867564"/>
            <a:ext cx="8161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추가한 </a:t>
            </a:r>
            <a:r>
              <a:rPr lang="en-US" altLang="ko-KR" sz="1400"/>
              <a:t>API URL</a:t>
            </a:r>
            <a:r>
              <a:rPr lang="ko-KR" altLang="en-US" sz="1400"/>
              <a:t>은 </a:t>
            </a:r>
            <a:r>
              <a:rPr lang="en-US" altLang="ko-KR" sz="1400"/>
              <a:t>URL </a:t>
            </a:r>
            <a:r>
              <a:rPr lang="ko-KR" altLang="en-US" sz="1400"/>
              <a:t>경로와 메소드 명만 바뀜 </a:t>
            </a:r>
          </a:p>
        </p:txBody>
      </p:sp>
    </p:spTree>
    <p:extLst>
      <p:ext uri="{BB962C8B-B14F-4D97-AF65-F5344CB8AC3E}">
        <p14:creationId xmlns:p14="http://schemas.microsoft.com/office/powerpoint/2010/main" val="378084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F8563-9C82-C711-F959-3FED22B7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활동기록 </a:t>
            </a:r>
            <a:r>
              <a:rPr lang="en-US" altLang="ko-KR" sz="4000"/>
              <a:t>redis </a:t>
            </a:r>
            <a:r>
              <a:rPr lang="ko-KR" altLang="en-US" sz="4000"/>
              <a:t>저장 및 </a:t>
            </a:r>
            <a:r>
              <a:rPr lang="en-US" altLang="ko-KR" sz="4000"/>
              <a:t>DAU </a:t>
            </a:r>
            <a:r>
              <a:rPr lang="ko-KR" altLang="en-US" sz="4000"/>
              <a:t>조회 </a:t>
            </a:r>
            <a:r>
              <a:rPr lang="en-US" altLang="ko-KR" sz="4000"/>
              <a:t>- Service</a:t>
            </a:r>
            <a:endParaRPr lang="ko-KR" alt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FE29F-5C21-E28B-F8CC-2C08F539078F}"/>
              </a:ext>
            </a:extLst>
          </p:cNvPr>
          <p:cNvSpPr txBox="1"/>
          <p:nvPr/>
        </p:nvSpPr>
        <p:spPr>
          <a:xfrm>
            <a:off x="5763491" y="1861955"/>
            <a:ext cx="61144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32~38Line : redis-cli</a:t>
            </a:r>
            <a:r>
              <a:rPr lang="ko-KR" altLang="en-US" sz="1200"/>
              <a:t>로 치면 </a:t>
            </a:r>
            <a:r>
              <a:rPr lang="en-US" altLang="ko-KR" sz="1200"/>
              <a:t>SADD dau:{currentDate}</a:t>
            </a:r>
            <a:r>
              <a:rPr lang="ko-KR" altLang="en-US" sz="1200"/>
              <a:t> </a:t>
            </a:r>
            <a:r>
              <a:rPr lang="en-US" altLang="ko-KR" sz="1200"/>
              <a:t>{userId}  </a:t>
            </a:r>
            <a:r>
              <a:rPr lang="ko-KR" altLang="en-US" sz="1200"/>
              <a:t>명령어 수행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40~44Line : redis-cli</a:t>
            </a:r>
            <a:r>
              <a:rPr lang="ko-KR" altLang="en-US" sz="1200"/>
              <a:t>로 치면 </a:t>
            </a:r>
            <a:r>
              <a:rPr lang="en-US" altLang="ko-KR" sz="1200"/>
              <a:t>SCARD dau:{currentDate} </a:t>
            </a:r>
            <a:r>
              <a:rPr lang="ko-KR" altLang="en-US" sz="1200"/>
              <a:t>명령으로 해당 키에 등록된 값 개수</a:t>
            </a:r>
            <a:br>
              <a:rPr lang="en-US" altLang="ko-KR" sz="1200"/>
            </a:br>
            <a:r>
              <a:rPr lang="en-US" altLang="ko-KR" sz="1200"/>
              <a:t>                     </a:t>
            </a:r>
            <a:r>
              <a:rPr lang="ko-KR" altLang="en-US" sz="1200"/>
              <a:t>조회와 같다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 </a:t>
            </a:r>
            <a:endParaRPr lang="ko-KR" altLang="en-US" sz="1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1335850-C665-B231-E705-CF90157442DD}"/>
              </a:ext>
            </a:extLst>
          </p:cNvPr>
          <p:cNvGrpSpPr/>
          <p:nvPr/>
        </p:nvGrpSpPr>
        <p:grpSpPr>
          <a:xfrm>
            <a:off x="1097280" y="1861955"/>
            <a:ext cx="4594811" cy="4949865"/>
            <a:chOff x="1097280" y="1861955"/>
            <a:chExt cx="4594811" cy="49498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3139A8E-2F0E-26AC-5791-6C64C8DD5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61955"/>
              <a:ext cx="4594811" cy="494986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7EF16BB-3AD8-98F8-369B-F40584203FDF}"/>
                </a:ext>
              </a:extLst>
            </p:cNvPr>
            <p:cNvSpPr/>
            <p:nvPr/>
          </p:nvSpPr>
          <p:spPr>
            <a:xfrm>
              <a:off x="1468582" y="4756727"/>
              <a:ext cx="3066473" cy="18146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1851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0FE8F-30E2-677E-E3CF-7D6EB569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K6</a:t>
            </a:r>
            <a:r>
              <a:rPr lang="ko-KR" altLang="en-US" sz="3600"/>
              <a:t>를 통한 </a:t>
            </a:r>
            <a:r>
              <a:rPr lang="en-US" altLang="ko-KR" sz="3600"/>
              <a:t>Redis </a:t>
            </a:r>
            <a:r>
              <a:rPr lang="ko-KR" altLang="en-US" sz="3600"/>
              <a:t>활동기록 및 </a:t>
            </a:r>
            <a:r>
              <a:rPr lang="en-US" altLang="ko-KR" sz="3600"/>
              <a:t>DAU </a:t>
            </a:r>
            <a:r>
              <a:rPr lang="ko-KR" altLang="en-US" sz="3600"/>
              <a:t>조회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1950386-F909-D477-C2BB-D91DBDD3051F}"/>
              </a:ext>
            </a:extLst>
          </p:cNvPr>
          <p:cNvGrpSpPr/>
          <p:nvPr/>
        </p:nvGrpSpPr>
        <p:grpSpPr>
          <a:xfrm>
            <a:off x="473660" y="1872163"/>
            <a:ext cx="1952898" cy="3248478"/>
            <a:chOff x="473660" y="1872163"/>
            <a:chExt cx="1952898" cy="324847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D520727-32DC-B544-5595-F3F1C2E93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660" y="1872163"/>
              <a:ext cx="1952898" cy="324847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4D50FC5-025F-FEC6-B52C-0257BDAC6AB1}"/>
                </a:ext>
              </a:extLst>
            </p:cNvPr>
            <p:cNvSpPr/>
            <p:nvPr/>
          </p:nvSpPr>
          <p:spPr>
            <a:xfrm>
              <a:off x="609600" y="4876800"/>
              <a:ext cx="1006764" cy="2438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8921774-8B12-10ED-5AA5-17522AC7C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916" y="1872162"/>
            <a:ext cx="5221828" cy="4886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D4A270-926E-19B0-8025-4152E429811B}"/>
              </a:ext>
            </a:extLst>
          </p:cNvPr>
          <p:cNvSpPr txBox="1"/>
          <p:nvPr/>
        </p:nvSpPr>
        <p:spPr>
          <a:xfrm>
            <a:off x="7832436" y="1872162"/>
            <a:ext cx="41840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script_4-1.js</a:t>
            </a:r>
            <a:r>
              <a:rPr lang="ko-KR" altLang="en-US" sz="1200"/>
              <a:t> 와의 차이점은 요청 </a:t>
            </a:r>
            <a:r>
              <a:rPr lang="en-US" altLang="ko-KR" sz="1200"/>
              <a:t>Url</a:t>
            </a:r>
            <a:r>
              <a:rPr lang="ko-KR" altLang="en-US" sz="1200"/>
              <a:t>이 변경되었다는거 하나 뿐이다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en-US" altLang="ko-KR" sz="1200"/>
              <a:t>k6 run --summary-mode= full script_4-2.js </a:t>
            </a:r>
            <a:r>
              <a:rPr lang="ko-KR" altLang="en-US" sz="1200"/>
              <a:t>수행</a:t>
            </a:r>
          </a:p>
        </p:txBody>
      </p:sp>
    </p:spTree>
    <p:extLst>
      <p:ext uri="{BB962C8B-B14F-4D97-AF65-F5344CB8AC3E}">
        <p14:creationId xmlns:p14="http://schemas.microsoft.com/office/powerpoint/2010/main" val="481146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E27A1-4137-D164-9588-8DBC5B4B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DB DAU </a:t>
            </a:r>
            <a:r>
              <a:rPr lang="ko-KR" altLang="en-US" sz="3200"/>
              <a:t>부하테스트와 </a:t>
            </a:r>
            <a:r>
              <a:rPr lang="en-US" altLang="ko-KR" sz="3200"/>
              <a:t>Redis DAU </a:t>
            </a:r>
            <a:r>
              <a:rPr lang="ko-KR" altLang="en-US" sz="3200"/>
              <a:t>부하테스트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270EAE-23F7-0CA3-A4EE-BAB855C3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819" y="1902691"/>
            <a:ext cx="5777705" cy="35652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143C67-213D-6760-220D-4834910C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6" y="1902691"/>
            <a:ext cx="5515956" cy="338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D5EB06-80EC-85B4-EC89-5093E0F9558F}"/>
              </a:ext>
            </a:extLst>
          </p:cNvPr>
          <p:cNvSpPr txBox="1"/>
          <p:nvPr/>
        </p:nvSpPr>
        <p:spPr>
          <a:xfrm>
            <a:off x="563418" y="5643418"/>
            <a:ext cx="11447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DB </a:t>
            </a:r>
            <a:r>
              <a:rPr lang="ko-KR" altLang="en-US" sz="1400"/>
              <a:t>부하테스트 </a:t>
            </a:r>
            <a:r>
              <a:rPr lang="en-US" altLang="ko-KR" sz="1400"/>
              <a:t>: </a:t>
            </a:r>
            <a:r>
              <a:rPr lang="ko-KR" altLang="en-US" sz="1400"/>
              <a:t>초당 </a:t>
            </a:r>
            <a:r>
              <a:rPr lang="en-US" altLang="ko-KR" sz="1400"/>
              <a:t>1490</a:t>
            </a:r>
            <a:r>
              <a:rPr lang="ko-KR" altLang="en-US" sz="1400"/>
              <a:t>건 처리</a:t>
            </a:r>
            <a:endParaRPr lang="en-US" altLang="ko-KR" sz="1400"/>
          </a:p>
          <a:p>
            <a:r>
              <a:rPr lang="en-US" altLang="ko-KR" sz="1400"/>
              <a:t>Redis </a:t>
            </a:r>
            <a:r>
              <a:rPr lang="ko-KR" altLang="en-US" sz="1400"/>
              <a:t>부하테스트 </a:t>
            </a:r>
            <a:r>
              <a:rPr lang="en-US" altLang="ko-KR" sz="1400"/>
              <a:t>: </a:t>
            </a:r>
            <a:r>
              <a:rPr lang="ko-KR" altLang="en-US" sz="1400"/>
              <a:t>초당 </a:t>
            </a:r>
            <a:r>
              <a:rPr lang="en-US" altLang="ko-KR" sz="1400"/>
              <a:t>10204 </a:t>
            </a:r>
            <a:r>
              <a:rPr lang="ko-KR" altLang="en-US" sz="1400"/>
              <a:t>건 처리 </a:t>
            </a:r>
            <a:r>
              <a:rPr lang="en-US" altLang="ko-KR" sz="1400"/>
              <a:t>( </a:t>
            </a:r>
            <a:r>
              <a:rPr lang="ko-KR" altLang="en-US" sz="1400"/>
              <a:t>대략 </a:t>
            </a:r>
            <a:r>
              <a:rPr lang="en-US" altLang="ko-KR" sz="1400"/>
              <a:t>7.5 </a:t>
            </a:r>
            <a:r>
              <a:rPr lang="ko-KR" altLang="en-US" sz="1400"/>
              <a:t>배 처리량 상승 </a:t>
            </a:r>
            <a:r>
              <a:rPr lang="en-US" altLang="ko-KR" sz="1400"/>
              <a:t>)</a:t>
            </a:r>
            <a:endParaRPr lang="ko-KR" altLang="en-US" sz="14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59B906-EB33-F2FE-9666-10E340C2723D}"/>
              </a:ext>
            </a:extLst>
          </p:cNvPr>
          <p:cNvGrpSpPr/>
          <p:nvPr/>
        </p:nvGrpSpPr>
        <p:grpSpPr>
          <a:xfrm>
            <a:off x="6232819" y="5514448"/>
            <a:ext cx="3267531" cy="884838"/>
            <a:chOff x="6232819" y="5514448"/>
            <a:chExt cx="3267531" cy="88483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5CC5649-2EA7-07A4-9FFD-A0727E58D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32819" y="5514448"/>
              <a:ext cx="2772162" cy="39058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06B8CCA-4E86-DFC0-7563-39B203568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2819" y="5951549"/>
              <a:ext cx="3267531" cy="44773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9D98EA-443E-130E-BB58-9A6B5223F30E}"/>
              </a:ext>
            </a:extLst>
          </p:cNvPr>
          <p:cNvSpPr txBox="1"/>
          <p:nvPr/>
        </p:nvSpPr>
        <p:spPr>
          <a:xfrm>
            <a:off x="9121671" y="5514448"/>
            <a:ext cx="28888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총 </a:t>
            </a:r>
            <a:r>
              <a:rPr lang="en-US" altLang="ko-KR" sz="1100"/>
              <a:t>39771</a:t>
            </a:r>
            <a:r>
              <a:rPr lang="ko-KR" altLang="en-US" sz="1100"/>
              <a:t>건의 값 저장</a:t>
            </a:r>
            <a:endParaRPr lang="en-US" altLang="ko-KR" sz="1100"/>
          </a:p>
          <a:p>
            <a:r>
              <a:rPr lang="ko-KR" altLang="en-US" sz="1100"/>
              <a:t>해당 키의 메모리 사용량 </a:t>
            </a:r>
            <a:r>
              <a:rPr lang="en-US" altLang="ko-KR" sz="1100"/>
              <a:t>: 2MB</a:t>
            </a:r>
            <a:r>
              <a:rPr lang="ko-KR" altLang="en-US" sz="1100"/>
              <a:t> 사용</a:t>
            </a:r>
            <a:endParaRPr lang="en-US" altLang="ko-KR" sz="1100"/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70477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CEF56-469C-EBCA-B5BD-6E6AD15F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DAU </a:t>
            </a:r>
            <a:r>
              <a:rPr lang="ko-KR" altLang="en-US" sz="3200"/>
              <a:t>활동기록 요청 및 조회 </a:t>
            </a:r>
            <a:r>
              <a:rPr lang="en-US" altLang="ko-KR" sz="3200"/>
              <a:t>BITMAP API </a:t>
            </a:r>
            <a:r>
              <a:rPr lang="ko-KR" altLang="en-US" sz="3200"/>
              <a:t>추가 </a:t>
            </a:r>
            <a:r>
              <a:rPr lang="en-US" altLang="ko-KR" sz="3200"/>
              <a:t>- Contoller</a:t>
            </a:r>
            <a:endParaRPr lang="ko-KR" altLang="en-US" sz="32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0CA4221-189A-870B-26E0-413B03C94B1A}"/>
              </a:ext>
            </a:extLst>
          </p:cNvPr>
          <p:cNvGrpSpPr/>
          <p:nvPr/>
        </p:nvGrpSpPr>
        <p:grpSpPr>
          <a:xfrm>
            <a:off x="506593" y="1865745"/>
            <a:ext cx="2236741" cy="4909127"/>
            <a:chOff x="506593" y="1865745"/>
            <a:chExt cx="2236741" cy="49091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1834936-F7D5-DB5B-742A-B657CF7D6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593" y="1865745"/>
              <a:ext cx="2236741" cy="490912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B7366B7-6874-3983-71E1-A29401D2298C}"/>
                </a:ext>
              </a:extLst>
            </p:cNvPr>
            <p:cNvSpPr/>
            <p:nvPr/>
          </p:nvSpPr>
          <p:spPr>
            <a:xfrm>
              <a:off x="766618" y="4996873"/>
              <a:ext cx="1413164" cy="1847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5EE433D-7299-A142-FB4C-D4D73A375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353" y="1865745"/>
            <a:ext cx="7868748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22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3456-C3E2-5C88-0E5B-E02FE4CE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412AB-8668-901C-8657-5101EBF3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활동기록 </a:t>
            </a:r>
            <a:r>
              <a:rPr lang="en-US" altLang="ko-KR" sz="3200"/>
              <a:t>redis bitmap </a:t>
            </a:r>
            <a:r>
              <a:rPr lang="ko-KR" altLang="en-US" sz="3200"/>
              <a:t>저장 및 </a:t>
            </a:r>
            <a:r>
              <a:rPr lang="en-US" altLang="ko-KR" sz="3200"/>
              <a:t>DAU </a:t>
            </a:r>
            <a:r>
              <a:rPr lang="ko-KR" altLang="en-US" sz="3200"/>
              <a:t>조회 </a:t>
            </a:r>
            <a:r>
              <a:rPr lang="en-US" altLang="ko-KR" sz="3200"/>
              <a:t>- Service</a:t>
            </a:r>
            <a:endParaRPr lang="ko-KR" altLang="en-US" sz="32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5B53CB4-A611-6D7F-AD82-D51A95048410}"/>
              </a:ext>
            </a:extLst>
          </p:cNvPr>
          <p:cNvGrpSpPr/>
          <p:nvPr/>
        </p:nvGrpSpPr>
        <p:grpSpPr>
          <a:xfrm>
            <a:off x="506593" y="1865745"/>
            <a:ext cx="2236741" cy="4909127"/>
            <a:chOff x="506593" y="1865745"/>
            <a:chExt cx="2236741" cy="49091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BE82EA0-1870-E29B-D885-A7A206F6B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593" y="1865745"/>
              <a:ext cx="2236741" cy="490912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71882BB-2E0E-7418-2E74-502C37DCC78F}"/>
                </a:ext>
              </a:extLst>
            </p:cNvPr>
            <p:cNvSpPr/>
            <p:nvPr/>
          </p:nvSpPr>
          <p:spPr>
            <a:xfrm>
              <a:off x="766618" y="5283195"/>
              <a:ext cx="1413164" cy="1847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573E82FC-C701-77A6-FB3F-5B4C87910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873" y="1865745"/>
            <a:ext cx="6992326" cy="3686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D15E3B-5077-CFC2-3E09-DA502B1991EA}"/>
              </a:ext>
            </a:extLst>
          </p:cNvPr>
          <p:cNvSpPr txBox="1"/>
          <p:nvPr/>
        </p:nvSpPr>
        <p:spPr>
          <a:xfrm>
            <a:off x="2913873" y="5671127"/>
            <a:ext cx="801274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48~57Line : redis-cli</a:t>
            </a:r>
            <a:r>
              <a:rPr lang="ko-KR" altLang="en-US" sz="1100"/>
              <a:t>에서 다음 명령과 </a:t>
            </a:r>
            <a:r>
              <a:rPr lang="ko-KR" altLang="en-US" sz="1100" b="1">
                <a:solidFill>
                  <a:srgbClr val="FF0000"/>
                </a:solidFill>
              </a:rPr>
              <a:t>같음 </a:t>
            </a:r>
            <a:r>
              <a:rPr lang="en-US" altLang="ko-KR" sz="1100" b="1">
                <a:solidFill>
                  <a:srgbClr val="FF0000"/>
                </a:solidFill>
              </a:rPr>
              <a:t>SETBIT dau:{</a:t>
            </a:r>
            <a:r>
              <a:rPr lang="ko-KR" altLang="en-US" sz="1100" b="1">
                <a:solidFill>
                  <a:srgbClr val="FF0000"/>
                </a:solidFill>
              </a:rPr>
              <a:t>현재날짜</a:t>
            </a:r>
            <a:r>
              <a:rPr lang="en-US" altLang="ko-KR" sz="1100" b="1">
                <a:solidFill>
                  <a:srgbClr val="FF0000"/>
                </a:solidFill>
              </a:rPr>
              <a:t>} {offset[=userId]} 1 </a:t>
            </a:r>
          </a:p>
          <a:p>
            <a:r>
              <a:rPr lang="en-US" altLang="ko-KR" sz="1100"/>
              <a:t>59-66Line: (RedisCallback&lt;long&gt;) </a:t>
            </a:r>
            <a:r>
              <a:rPr lang="ko-KR" altLang="en-US" sz="1100"/>
              <a:t>은  </a:t>
            </a:r>
            <a:r>
              <a:rPr lang="en-US" altLang="ko-KR" sz="1100"/>
              <a:t>(RedisConnection</a:t>
            </a:r>
            <a:r>
              <a:rPr lang="ko-KR" altLang="en-US" sz="1100"/>
              <a:t> </a:t>
            </a:r>
            <a:r>
              <a:rPr lang="en-US" altLang="ko-KR" sz="1100"/>
              <a:t>connection) -&gt; {} </a:t>
            </a:r>
            <a:r>
              <a:rPr lang="ko-KR" altLang="en-US" sz="1100"/>
              <a:t>의 반환값을 형변환 하기위한 타입이다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endParaRPr lang="en-US" altLang="ko-KR" sz="1100"/>
          </a:p>
          <a:p>
            <a:r>
              <a:rPr lang="en-US" altLang="ko-KR" sz="1100"/>
              <a:t>                    Key</a:t>
            </a:r>
            <a:r>
              <a:rPr lang="ko-KR" altLang="en-US" sz="1100"/>
              <a:t>에 대한 </a:t>
            </a:r>
            <a:r>
              <a:rPr lang="en-US" altLang="ko-KR" sz="1100"/>
              <a:t>BITCOUNT </a:t>
            </a:r>
            <a:r>
              <a:rPr lang="ko-KR" altLang="en-US" sz="1100"/>
              <a:t>조회 명령어 </a:t>
            </a:r>
            <a:r>
              <a:rPr lang="en-US" altLang="ko-KR" sz="1100"/>
              <a:t>(60~66 Line)</a:t>
            </a:r>
          </a:p>
          <a:p>
            <a:endParaRPr lang="en-US" altLang="ko-KR" sz="1100" b="1">
              <a:solidFill>
                <a:srgbClr val="FF0000"/>
              </a:solidFill>
            </a:endParaRPr>
          </a:p>
          <a:p>
            <a:r>
              <a:rPr lang="en-US" altLang="ko-KR" sz="1100" b="1">
                <a:solidFill>
                  <a:srgbClr val="0000FF"/>
                </a:solidFill>
              </a:rPr>
              <a:t>※</a:t>
            </a:r>
            <a:r>
              <a:rPr lang="ko-KR" altLang="en-US" sz="1100" b="1">
                <a:solidFill>
                  <a:srgbClr val="0000FF"/>
                </a:solidFill>
              </a:rPr>
              <a:t>주의점 </a:t>
            </a:r>
            <a:r>
              <a:rPr lang="en-US" altLang="ko-KR" sz="1100" b="1">
                <a:solidFill>
                  <a:srgbClr val="0000FF"/>
                </a:solidFill>
              </a:rPr>
              <a:t>: bitmap</a:t>
            </a:r>
            <a:r>
              <a:rPr lang="ko-KR" altLang="en-US" sz="1100" b="1">
                <a:solidFill>
                  <a:srgbClr val="0000FF"/>
                </a:solidFill>
              </a:rPr>
              <a:t>의 </a:t>
            </a:r>
            <a:r>
              <a:rPr lang="en-US" altLang="ko-KR" sz="1100" b="1">
                <a:solidFill>
                  <a:srgbClr val="0000FF"/>
                </a:solidFill>
              </a:rPr>
              <a:t>count</a:t>
            </a:r>
            <a:r>
              <a:rPr lang="ko-KR" altLang="en-US" sz="1100" b="1">
                <a:solidFill>
                  <a:srgbClr val="0000FF"/>
                </a:solidFill>
              </a:rPr>
              <a:t>는 </a:t>
            </a:r>
            <a:r>
              <a:rPr lang="en-US" altLang="ko-KR" sz="1100" b="1">
                <a:solidFill>
                  <a:srgbClr val="0000FF"/>
                </a:solidFill>
              </a:rPr>
              <a:t>getBit() </a:t>
            </a:r>
            <a:r>
              <a:rPr lang="ko-KR" altLang="en-US" sz="1100" b="1">
                <a:solidFill>
                  <a:srgbClr val="0000FF"/>
                </a:solidFill>
              </a:rPr>
              <a:t>로 가져오지 않는다</a:t>
            </a:r>
            <a:r>
              <a:rPr lang="en-US" altLang="ko-KR" sz="1100" b="1">
                <a:solidFill>
                  <a:srgbClr val="0000FF"/>
                </a:solidFill>
              </a:rPr>
              <a:t>.</a:t>
            </a:r>
            <a:endParaRPr lang="ko-KR" altLang="en-US" sz="11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041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3C1FFC4-F01E-878B-D498-FAD9F36B2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76287"/>
            <a:ext cx="6397283" cy="40871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1965B3-1CDD-AD69-01D3-41E8CCE6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BitMap </a:t>
            </a:r>
            <a:r>
              <a:rPr lang="ko-KR" altLang="en-US" sz="3600"/>
              <a:t>요청 결과 및 </a:t>
            </a:r>
            <a:r>
              <a:rPr lang="en-US" altLang="ko-KR" sz="3600"/>
              <a:t>Redis-cli bitmap</a:t>
            </a:r>
            <a:r>
              <a:rPr lang="ko-KR" altLang="en-US" sz="3600"/>
              <a:t> </a:t>
            </a:r>
            <a:r>
              <a:rPr lang="en-US" altLang="ko-KR" sz="3600"/>
              <a:t>memory</a:t>
            </a:r>
            <a:r>
              <a:rPr lang="ko-KR" altLang="en-US" sz="3600"/>
              <a:t>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3006B8-2060-C794-33A7-BF19404F1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32981"/>
            <a:ext cx="6973273" cy="247685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B2F31701-7202-4DE1-E54B-D76D482F6167}"/>
              </a:ext>
            </a:extLst>
          </p:cNvPr>
          <p:cNvGrpSpPr/>
          <p:nvPr/>
        </p:nvGrpSpPr>
        <p:grpSpPr>
          <a:xfrm>
            <a:off x="7731926" y="5339189"/>
            <a:ext cx="3267531" cy="884838"/>
            <a:chOff x="7731926" y="5339189"/>
            <a:chExt cx="3267531" cy="884838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FDE0886-4F64-C97B-0FFF-B7D636D5FDDD}"/>
                </a:ext>
              </a:extLst>
            </p:cNvPr>
            <p:cNvGrpSpPr/>
            <p:nvPr/>
          </p:nvGrpSpPr>
          <p:grpSpPr>
            <a:xfrm>
              <a:off x="7731926" y="5339189"/>
              <a:ext cx="3267531" cy="884838"/>
              <a:chOff x="6232819" y="5514448"/>
              <a:chExt cx="3267531" cy="88483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EBA11FE-8FE1-6F35-A864-861794BE53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2819" y="5514448"/>
                <a:ext cx="2772162" cy="390580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7FDF5538-DA99-EB7B-8610-87A40181B8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2819" y="5951549"/>
                <a:ext cx="3267531" cy="447737"/>
              </a:xfrm>
              <a:prstGeom prst="rect">
                <a:avLst/>
              </a:prstGeom>
            </p:spPr>
          </p:pic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EA805D0-93FD-DA40-FEA5-7BC59844A104}"/>
                </a:ext>
              </a:extLst>
            </p:cNvPr>
            <p:cNvSpPr/>
            <p:nvPr/>
          </p:nvSpPr>
          <p:spPr>
            <a:xfrm>
              <a:off x="8508407" y="5982503"/>
              <a:ext cx="609600" cy="1685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0D877C8-ABE0-BDE9-FD12-4780172A8AD2}"/>
              </a:ext>
            </a:extLst>
          </p:cNvPr>
          <p:cNvGrpSpPr/>
          <p:nvPr/>
        </p:nvGrpSpPr>
        <p:grpSpPr>
          <a:xfrm>
            <a:off x="7792886" y="2423972"/>
            <a:ext cx="3362794" cy="2505425"/>
            <a:chOff x="7792886" y="2423972"/>
            <a:chExt cx="3362794" cy="2505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4984413-88B7-E82C-BB1F-106C42E9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92886" y="2423972"/>
              <a:ext cx="3362794" cy="250542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BBD80E3-8087-CAEE-A1BA-6FF18E08F83C}"/>
                </a:ext>
              </a:extLst>
            </p:cNvPr>
            <p:cNvSpPr/>
            <p:nvPr/>
          </p:nvSpPr>
          <p:spPr>
            <a:xfrm>
              <a:off x="8508407" y="4565735"/>
              <a:ext cx="609600" cy="1685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569333-93B3-9B45-DEF6-28C7CD44C3DB}"/>
              </a:ext>
            </a:extLst>
          </p:cNvPr>
          <p:cNvSpPr txBox="1"/>
          <p:nvPr/>
        </p:nvSpPr>
        <p:spPr>
          <a:xfrm>
            <a:off x="7724537" y="5077579"/>
            <a:ext cx="377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script_4-2.js </a:t>
            </a:r>
            <a:r>
              <a:rPr lang="ko-KR" altLang="en-US" sz="1100"/>
              <a:t>메모리 사용율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99EEF-5D0E-6EB0-FCEE-76DE49C086DD}"/>
              </a:ext>
            </a:extLst>
          </p:cNvPr>
          <p:cNvSpPr txBox="1"/>
          <p:nvPr/>
        </p:nvSpPr>
        <p:spPr>
          <a:xfrm>
            <a:off x="7731926" y="2121514"/>
            <a:ext cx="3776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script_4-3.js </a:t>
            </a:r>
            <a:r>
              <a:rPr lang="ko-KR" altLang="en-US" sz="1100"/>
              <a:t>메모리 사용율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9EB634-B592-E1C4-164B-43BDDE6D9184}"/>
              </a:ext>
            </a:extLst>
          </p:cNvPr>
          <p:cNvSpPr/>
          <p:nvPr/>
        </p:nvSpPr>
        <p:spPr>
          <a:xfrm>
            <a:off x="10060247" y="2680151"/>
            <a:ext cx="2068945" cy="1452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결론 </a:t>
            </a:r>
            <a:r>
              <a:rPr lang="en-US" altLang="ko-KR" sz="1100"/>
              <a:t>: </a:t>
            </a:r>
            <a:r>
              <a:rPr lang="ko-KR" altLang="en-US" sz="1100"/>
              <a:t>저장하려는 데이터가 단순  두 가지 상태만을 카운트하는 경우 </a:t>
            </a:r>
            <a:r>
              <a:rPr lang="en-US" altLang="ko-KR" sz="1100"/>
              <a:t>, </a:t>
            </a:r>
            <a:r>
              <a:rPr lang="ko-KR" altLang="en-US" sz="1100"/>
              <a:t>그리고 메모리 사용량을 줄이고 싶을 경우에 한하여 </a:t>
            </a:r>
            <a:r>
              <a:rPr lang="en-US" altLang="ko-KR" sz="1100"/>
              <a:t>bitmap</a:t>
            </a:r>
            <a:r>
              <a:rPr lang="ko-KR" altLang="en-US" sz="1100"/>
              <a:t>으로 구현함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80982359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155</TotalTime>
  <Words>601</Words>
  <Application>Microsoft Office PowerPoint</Application>
  <PresentationFormat>와이드스크린</PresentationFormat>
  <Paragraphs>74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추억</vt:lpstr>
      <vt:lpstr>하루동안 서비스에 접속한 사용자 수 DAU 카운팅</vt:lpstr>
      <vt:lpstr>SET 자료구조 명령어</vt:lpstr>
      <vt:lpstr>BITMAP 자료구조 특징</vt:lpstr>
      <vt:lpstr>BITMAP 자료구조 명령어</vt:lpstr>
      <vt:lpstr>SET 과 BITMAP의 특징 비교</vt:lpstr>
      <vt:lpstr>방문 기록 저장 및 DAU 카운트 조회 - Controller</vt:lpstr>
      <vt:lpstr>방문 기록 저장 및 DAU 카운트 조회 - Service</vt:lpstr>
      <vt:lpstr>k6 부하 테스트 - 방문 기록 및 DAU확인 </vt:lpstr>
      <vt:lpstr>K6 테스트 결과 화면</vt:lpstr>
      <vt:lpstr>DAU 활동기록 요청 및 조회 API 추가 - Contoller</vt:lpstr>
      <vt:lpstr>활동기록 redis 저장 및 DAU 조회 - Service</vt:lpstr>
      <vt:lpstr>K6를 통한 Redis 활동기록 및 DAU 조회</vt:lpstr>
      <vt:lpstr>DB DAU 부하테스트와 Redis DAU 부하테스트 비교</vt:lpstr>
      <vt:lpstr>DAU 활동기록 요청 및 조회 BITMAP API 추가 - Contoller</vt:lpstr>
      <vt:lpstr>활동기록 redis bitmap 저장 및 DAU 조회 - Service</vt:lpstr>
      <vt:lpstr>BitMap 요청 결과 및 Redis-cli bitmap memory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33</cp:revision>
  <dcterms:created xsi:type="dcterms:W3CDTF">2026-08-29T12:55:19Z</dcterms:created>
  <dcterms:modified xsi:type="dcterms:W3CDTF">2026-08-29T15:32:51Z</dcterms:modified>
</cp:coreProperties>
</file>