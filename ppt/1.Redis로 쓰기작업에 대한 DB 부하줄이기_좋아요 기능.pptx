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8" r:id="rId4"/>
    <p:sldId id="257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77B77AE-AE6B-49BB-B3EC-7BA10A8F273F}">
          <p14:sldIdLst>
            <p14:sldId id="256"/>
            <p14:sldId id="267"/>
            <p14:sldId id="258"/>
            <p14:sldId id="257"/>
            <p14:sldId id="259"/>
            <p14:sldId id="261"/>
            <p14:sldId id="260"/>
          </p14:sldIdLst>
        </p14:section>
        <p14:section name="Redis 코드 추가" id="{852F6F9D-D7A3-400F-8001-05FCA743D9A4}">
          <p14:sldIdLst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99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53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556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892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349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2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927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4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0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923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83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3DDAEC9-225D-40EF-9156-AC567F55CA1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2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41DB4-C229-86D1-33FD-3E8580D92B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400"/>
              <a:t>Redis</a:t>
            </a:r>
            <a:r>
              <a:rPr lang="ko-KR" altLang="en-US" sz="4400"/>
              <a:t>로 쓰기작업에 대한 </a:t>
            </a:r>
            <a:r>
              <a:rPr lang="en-US" altLang="ko-KR" sz="4400"/>
              <a:t>DB </a:t>
            </a:r>
            <a:r>
              <a:rPr lang="ko-KR" altLang="en-US" sz="4400"/>
              <a:t>부하줄이기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9B6C7F-431D-C0F4-5FA9-A1BE7B13B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37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76755-C37F-6AD5-E9FF-BE7DA257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 List </a:t>
            </a:r>
            <a:r>
              <a:rPr lang="ko-KR" altLang="en-US"/>
              <a:t>명령어 </a:t>
            </a:r>
            <a:r>
              <a:rPr lang="en-US" altLang="ko-KR"/>
              <a:t>(Redis-cli)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45FF46-CEBB-3582-B9FC-7D478017D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858" y="1856060"/>
            <a:ext cx="6754283" cy="44286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7485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FAC5F-A025-BA1C-E439-DCD62791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시나리오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5B4428-174C-F515-095D-FC2BBB49982E}"/>
              </a:ext>
            </a:extLst>
          </p:cNvPr>
          <p:cNvSpPr txBox="1"/>
          <p:nvPr/>
        </p:nvSpPr>
        <p:spPr>
          <a:xfrm>
            <a:off x="1097280" y="1926165"/>
            <a:ext cx="8839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유명 인플루언서가 </a:t>
            </a:r>
            <a:r>
              <a:rPr lang="en-US" altLang="ko-KR"/>
              <a:t>SNS </a:t>
            </a:r>
            <a:r>
              <a:rPr lang="ko-KR" altLang="en-US"/>
              <a:t>에 새로운 게시글을 올린 상황을 상상해보자 </a:t>
            </a:r>
            <a:r>
              <a:rPr lang="en-US" altLang="ko-KR"/>
              <a:t>.  </a:t>
            </a:r>
            <a:br>
              <a:rPr lang="en-US" altLang="ko-KR"/>
            </a:br>
            <a:endParaRPr lang="en-US" altLang="ko-KR"/>
          </a:p>
          <a:p>
            <a:r>
              <a:rPr lang="ko-KR" altLang="en-US"/>
              <a:t>알림을 받은 수십만 명의 팔로워가 동시에 앱을 켜고  ‘ 좋아요 </a:t>
            </a:r>
            <a:r>
              <a:rPr lang="en-US" altLang="ko-KR"/>
              <a:t>ʼ  </a:t>
            </a:r>
            <a:r>
              <a:rPr lang="ko-KR" altLang="en-US"/>
              <a:t>버튼 을누를 것이다</a:t>
            </a:r>
            <a:r>
              <a:rPr lang="en-US" altLang="ko-KR"/>
              <a:t>. 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1 </a:t>
            </a:r>
            <a:r>
              <a:rPr lang="ko-KR" altLang="en-US"/>
              <a:t>초에 수천 번의 클릭이 발생할 것이고 그로 인해 </a:t>
            </a:r>
            <a:r>
              <a:rPr lang="en-US" altLang="ko-KR"/>
              <a:t>1 </a:t>
            </a:r>
            <a:r>
              <a:rPr lang="ko-KR" altLang="en-US"/>
              <a:t>초에 수천 번의 </a:t>
            </a:r>
            <a:r>
              <a:rPr lang="en-US" altLang="ko-KR"/>
              <a:t>INSERT </a:t>
            </a:r>
            <a:r>
              <a:rPr lang="ko-KR" altLang="en-US"/>
              <a:t>쿼리를 날림으로써 </a:t>
            </a:r>
            <a:r>
              <a:rPr lang="en-US" altLang="ko-KR"/>
              <a:t>DB </a:t>
            </a:r>
            <a:r>
              <a:rPr lang="ko-KR" altLang="en-US"/>
              <a:t>는 짧은 시간에 엄청난 부하를 받게 된다</a:t>
            </a:r>
            <a:r>
              <a:rPr lang="en-US" altLang="ko-KR"/>
              <a:t>.</a:t>
            </a:r>
            <a:br>
              <a:rPr lang="en-US" altLang="ko-KR"/>
            </a:br>
            <a:endParaRPr lang="en-US" altLang="ko-KR"/>
          </a:p>
          <a:p>
            <a:r>
              <a:rPr lang="ko-KR" altLang="en-US"/>
              <a:t>그로 인해 서버는 느려지고 </a:t>
            </a:r>
            <a:r>
              <a:rPr lang="en-US" altLang="ko-KR"/>
              <a:t>, </a:t>
            </a:r>
            <a:r>
              <a:rPr lang="ko-KR" altLang="en-US"/>
              <a:t>유저들은 좋아요 버튼을 눌렀는데 뒤늦게 반응을 하거나 작동을 하지 않는 경험을 하게 될 것이다 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46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5FB43-843D-8E06-F43C-7941833D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성능이 낮은 </a:t>
            </a:r>
            <a:r>
              <a:rPr lang="en-US" altLang="ko-KR"/>
              <a:t>DB </a:t>
            </a:r>
            <a:r>
              <a:rPr lang="ko-KR" altLang="en-US"/>
              <a:t>구성하기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3326FD-03D4-6662-E248-A9CD22E21CB8}"/>
              </a:ext>
            </a:extLst>
          </p:cNvPr>
          <p:cNvSpPr txBox="1"/>
          <p:nvPr/>
        </p:nvSpPr>
        <p:spPr>
          <a:xfrm>
            <a:off x="1060334" y="1939636"/>
            <a:ext cx="101322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시나리오를 재현하기 위해 </a:t>
            </a:r>
            <a:r>
              <a:rPr lang="en-US" altLang="ko-KR" sz="1200" b="1">
                <a:solidFill>
                  <a:srgbClr val="FF0000"/>
                </a:solidFill>
              </a:rPr>
              <a:t>1</a:t>
            </a:r>
            <a:r>
              <a:rPr lang="ko-KR" altLang="en-US" sz="1200" b="1">
                <a:solidFill>
                  <a:srgbClr val="FF0000"/>
                </a:solidFill>
              </a:rPr>
              <a:t>초당 수천번의 요청을 처리하지 못하는 성능의 </a:t>
            </a:r>
            <a:r>
              <a:rPr lang="en-US" altLang="ko-KR" sz="1200" b="1">
                <a:solidFill>
                  <a:srgbClr val="FF0000"/>
                </a:solidFill>
              </a:rPr>
              <a:t>DB</a:t>
            </a:r>
            <a:r>
              <a:rPr lang="ko-KR" altLang="en-US" sz="1200" b="1">
                <a:solidFill>
                  <a:srgbClr val="FF0000"/>
                </a:solidFill>
              </a:rPr>
              <a:t>를 </a:t>
            </a:r>
            <a:r>
              <a:rPr lang="en-US" altLang="ko-KR" sz="1200" b="1">
                <a:solidFill>
                  <a:srgbClr val="FF0000"/>
                </a:solidFill>
              </a:rPr>
              <a:t>Docker Container</a:t>
            </a:r>
            <a:r>
              <a:rPr lang="ko-KR" altLang="en-US" sz="1200" b="1">
                <a:solidFill>
                  <a:srgbClr val="FF0000"/>
                </a:solidFill>
              </a:rPr>
              <a:t>로 생성한다</a:t>
            </a:r>
            <a:r>
              <a:rPr lang="en-US" altLang="ko-KR" sz="1200" b="1">
                <a:solidFill>
                  <a:srgbClr val="FF0000"/>
                </a:solidFill>
              </a:rPr>
              <a:t>.</a:t>
            </a:r>
          </a:p>
          <a:p>
            <a:br>
              <a:rPr lang="en-US" altLang="ko-KR" sz="1200"/>
            </a:br>
            <a:r>
              <a:rPr lang="en-US" altLang="ko-KR" sz="1200"/>
              <a:t>docker run -d --name redis-2-mysqldb  -p 3324:3306 -e MYSQL_DATABASE=redis-2-mysqldb -e MYSQL_ROOT_PASSWORD=password -e --cpus="0.2" --memory="256m" mysql:latest</a:t>
            </a:r>
          </a:p>
          <a:p>
            <a:endParaRPr lang="en-US" altLang="ko-KR" sz="1200"/>
          </a:p>
          <a:p>
            <a:r>
              <a:rPr lang="en-US" altLang="ko-KR" sz="1200"/>
              <a:t>docker run -d --name redis-2-mysqldb  -p 3324:3306 -e MYSQL_DATABASE=redis-2-mysqldb -e MYSQL_ROOT_PASSWORD=password mysql:latest</a:t>
            </a:r>
          </a:p>
          <a:p>
            <a:endParaRPr lang="en-US" altLang="ko-KR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F4036A-BED0-574E-A349-D2020B3E0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2" y="3429000"/>
            <a:ext cx="12003175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61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5D4E2-48FA-C3F9-510D-F768EF95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K6 </a:t>
            </a:r>
            <a:r>
              <a:rPr lang="ko-KR" altLang="en-US"/>
              <a:t>테스트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2EC99A5-DA06-7D00-4F9F-2AEDD9342D31}"/>
              </a:ext>
            </a:extLst>
          </p:cNvPr>
          <p:cNvGrpSpPr/>
          <p:nvPr/>
        </p:nvGrpSpPr>
        <p:grpSpPr>
          <a:xfrm>
            <a:off x="405526" y="1873350"/>
            <a:ext cx="2181529" cy="2686425"/>
            <a:chOff x="405526" y="1873350"/>
            <a:chExt cx="2181529" cy="268642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E61A71E-00E1-5A3C-2892-3D644A631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526" y="1873350"/>
              <a:ext cx="2181529" cy="268642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FE67E6D-D4E9-2109-7769-5B2F2FE29817}"/>
                </a:ext>
              </a:extLst>
            </p:cNvPr>
            <p:cNvSpPr/>
            <p:nvPr/>
          </p:nvSpPr>
          <p:spPr>
            <a:xfrm>
              <a:off x="489527" y="3833091"/>
              <a:ext cx="1025237" cy="249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69A388A-2BB2-FBCD-226F-CD654622884F}"/>
              </a:ext>
            </a:extLst>
          </p:cNvPr>
          <p:cNvSpPr txBox="1"/>
          <p:nvPr/>
        </p:nvSpPr>
        <p:spPr>
          <a:xfrm>
            <a:off x="8414326" y="1874697"/>
            <a:ext cx="3729744" cy="4927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랜덤 데이터 생성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유저는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1~10,000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명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게시글은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1~100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개라고 가정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randomIntBetween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postId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randomIntBetween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좋아요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API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'http://localhost:8080/likes'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({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userId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postId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postId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});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headers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'application/json'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},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};</a:t>
            </a: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POST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요청 전송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http.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응답 상태 코드 확인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(200 OK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가 왔는 지 체크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{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'status is 200'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.status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});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AD9985-D838-5D9D-5F6A-B09CB73E4F65}"/>
              </a:ext>
            </a:extLst>
          </p:cNvPr>
          <p:cNvSpPr txBox="1"/>
          <p:nvPr/>
        </p:nvSpPr>
        <p:spPr>
          <a:xfrm>
            <a:off x="2671056" y="1873350"/>
            <a:ext cx="5706326" cy="2416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'k6/http'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check, sleep }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'k6'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randomIntBetween }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'https://jslib.k6.io/k6-utils/1.2.0/index.js'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options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가상 유저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(VUs) 1000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명으로 설정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vus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테스트를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초 동안 진행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duration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'10s'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97AE2EE-A18E-199B-C9AD-FB61F753DC96}"/>
              </a:ext>
            </a:extLst>
          </p:cNvPr>
          <p:cNvGrpSpPr/>
          <p:nvPr/>
        </p:nvGrpSpPr>
        <p:grpSpPr>
          <a:xfrm>
            <a:off x="2609059" y="4559775"/>
            <a:ext cx="5783263" cy="2182866"/>
            <a:chOff x="2609059" y="4559775"/>
            <a:chExt cx="5783263" cy="218286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A201BE3-F9C4-A1C5-EF6A-33AA4D46D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09059" y="4559775"/>
              <a:ext cx="5783263" cy="218286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0D5C600-B4D5-AEC6-A770-FE543F96D15C}"/>
                </a:ext>
              </a:extLst>
            </p:cNvPr>
            <p:cNvSpPr/>
            <p:nvPr/>
          </p:nvSpPr>
          <p:spPr>
            <a:xfrm>
              <a:off x="4953462" y="4615659"/>
              <a:ext cx="2346036" cy="4248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테스트 결과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ED8C95-AA3D-2BC4-97E8-E331C0D6D880}"/>
              </a:ext>
            </a:extLst>
          </p:cNvPr>
          <p:cNvSpPr/>
          <p:nvPr/>
        </p:nvSpPr>
        <p:spPr>
          <a:xfrm>
            <a:off x="4304145" y="5331061"/>
            <a:ext cx="1191491" cy="3031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216A59-C968-DB84-6E3D-F643A3489369}"/>
              </a:ext>
            </a:extLst>
          </p:cNvPr>
          <p:cNvSpPr txBox="1"/>
          <p:nvPr/>
        </p:nvSpPr>
        <p:spPr>
          <a:xfrm>
            <a:off x="5669360" y="5331061"/>
            <a:ext cx="254923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>
                <a:solidFill>
                  <a:srgbClr val="FF0000"/>
                </a:solidFill>
              </a:rPr>
              <a:t>컴퓨터 성능이 좋아 </a:t>
            </a:r>
            <a:r>
              <a:rPr lang="en-US" altLang="ko-KR" sz="1050" b="1">
                <a:solidFill>
                  <a:srgbClr val="FF0000"/>
                </a:solidFill>
              </a:rPr>
              <a:t>1</a:t>
            </a:r>
            <a:r>
              <a:rPr lang="ko-KR" altLang="en-US" sz="1050" b="1">
                <a:solidFill>
                  <a:srgbClr val="FF0000"/>
                </a:solidFill>
              </a:rPr>
              <a:t>초당 </a:t>
            </a:r>
            <a:r>
              <a:rPr lang="en-US" altLang="ko-KR" sz="1050" b="1">
                <a:solidFill>
                  <a:srgbClr val="FF0000"/>
                </a:solidFill>
              </a:rPr>
              <a:t>1686</a:t>
            </a:r>
            <a:r>
              <a:rPr lang="ko-KR" altLang="en-US" sz="1050" b="1">
                <a:solidFill>
                  <a:srgbClr val="FF0000"/>
                </a:solidFill>
              </a:rPr>
              <a:t>건을 처리했지만 실패율이 </a:t>
            </a:r>
            <a:r>
              <a:rPr lang="en-US" altLang="ko-KR" sz="1050" b="1">
                <a:solidFill>
                  <a:srgbClr val="FF0000"/>
                </a:solidFill>
              </a:rPr>
              <a:t>5.93</a:t>
            </a:r>
            <a:r>
              <a:rPr lang="ko-KR" altLang="en-US" sz="1050" b="1">
                <a:solidFill>
                  <a:srgbClr val="FF0000"/>
                </a:solidFill>
              </a:rPr>
              <a:t>프로로 높다</a:t>
            </a:r>
            <a:r>
              <a:rPr lang="en-US" altLang="ko-KR" sz="1050" b="1">
                <a:solidFill>
                  <a:srgbClr val="FF0000"/>
                </a:solidFill>
              </a:rPr>
              <a:t>.</a:t>
            </a:r>
            <a:br>
              <a:rPr lang="en-US" altLang="ko-KR" sz="1050" b="1">
                <a:solidFill>
                  <a:srgbClr val="FF0000"/>
                </a:solidFill>
              </a:rPr>
            </a:br>
            <a:br>
              <a:rPr lang="en-US" altLang="ko-KR" sz="1050" b="1">
                <a:solidFill>
                  <a:srgbClr val="FF0000"/>
                </a:solidFill>
              </a:rPr>
            </a:br>
            <a:r>
              <a:rPr lang="ko-KR" altLang="en-US" sz="1050" b="1">
                <a:solidFill>
                  <a:srgbClr val="FF0000"/>
                </a:solidFill>
              </a:rPr>
              <a:t>실패는 한건만 나와도 크리티컬한 이슈이다</a:t>
            </a:r>
            <a:r>
              <a:rPr lang="en-US" altLang="ko-KR" sz="1050" b="1">
                <a:solidFill>
                  <a:srgbClr val="FF0000"/>
                </a:solidFill>
              </a:rPr>
              <a:t>.</a:t>
            </a:r>
            <a:endParaRPr lang="ko-KR" altLang="en-US" sz="105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070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783C-3163-3E6D-4F99-CCE12BD7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36496-BAF5-124F-6BF2-4FECF984C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K6 </a:t>
            </a:r>
            <a:r>
              <a:rPr lang="ko-KR" altLang="en-US"/>
              <a:t>테스트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48C5F21-579C-863E-120E-B5E1852AE2B0}"/>
              </a:ext>
            </a:extLst>
          </p:cNvPr>
          <p:cNvGrpSpPr/>
          <p:nvPr/>
        </p:nvGrpSpPr>
        <p:grpSpPr>
          <a:xfrm>
            <a:off x="405526" y="1873350"/>
            <a:ext cx="2181529" cy="2686425"/>
            <a:chOff x="405526" y="1873350"/>
            <a:chExt cx="2181529" cy="268642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0AC1BCE-5287-30B8-804B-762C1ADBE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526" y="1873350"/>
              <a:ext cx="2181529" cy="268642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FF9A715-3871-02D3-159C-5358D72AB16A}"/>
                </a:ext>
              </a:extLst>
            </p:cNvPr>
            <p:cNvSpPr/>
            <p:nvPr/>
          </p:nvSpPr>
          <p:spPr>
            <a:xfrm>
              <a:off x="489527" y="3833091"/>
              <a:ext cx="1025237" cy="249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7B01D01A-7240-D263-5388-FA36357F6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056" y="1873350"/>
            <a:ext cx="4349871" cy="48322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6FF1CA2-B883-780F-E299-05F7E2883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517" y="1873350"/>
            <a:ext cx="3105583" cy="3715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92BBB39-78E6-D429-88E7-35D315448DF5}"/>
              </a:ext>
            </a:extLst>
          </p:cNvPr>
          <p:cNvSpPr txBox="1"/>
          <p:nvPr/>
        </p:nvSpPr>
        <p:spPr>
          <a:xfrm>
            <a:off x="7212517" y="2355273"/>
            <a:ext cx="4859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insert </a:t>
            </a:r>
            <a:r>
              <a:rPr lang="ko-KR" altLang="en-US" sz="1200"/>
              <a:t>문이 </a:t>
            </a:r>
            <a:r>
              <a:rPr lang="en-US" altLang="ko-KR" sz="1200"/>
              <a:t>DB</a:t>
            </a:r>
            <a:r>
              <a:rPr lang="ko-KR" altLang="en-US" sz="1200"/>
              <a:t>에 부하를 늘렸다는걸 알 수 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실패는 </a:t>
            </a:r>
            <a:r>
              <a:rPr lang="en-US" altLang="ko-KR" sz="1200"/>
              <a:t>connection pool</a:t>
            </a:r>
            <a:r>
              <a:rPr lang="ko-KR" altLang="en-US" sz="1200"/>
              <a:t>의 부족일 수도 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이를 </a:t>
            </a:r>
            <a:r>
              <a:rPr lang="en-US" altLang="ko-KR" sz="1200"/>
              <a:t>redis </a:t>
            </a:r>
            <a:r>
              <a:rPr lang="ko-KR" altLang="en-US" sz="1200"/>
              <a:t>를 통해 해결해본다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292228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D6800-B0D1-6EC7-8421-D49665A5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해결 방법 </a:t>
            </a:r>
            <a:r>
              <a:rPr lang="en-US" altLang="ko-KR"/>
              <a:t>(</a:t>
            </a:r>
            <a:r>
              <a:rPr lang="ko-KR" altLang="en-US"/>
              <a:t>이론 정리</a:t>
            </a:r>
            <a:r>
              <a:rPr lang="en-US" altLang="ko-KR"/>
              <a:t>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ED8439B-CC10-F574-ED8F-3CF004A59DE3}"/>
              </a:ext>
            </a:extLst>
          </p:cNvPr>
          <p:cNvGrpSpPr/>
          <p:nvPr/>
        </p:nvGrpSpPr>
        <p:grpSpPr>
          <a:xfrm>
            <a:off x="2213935" y="1944257"/>
            <a:ext cx="7552990" cy="4733634"/>
            <a:chOff x="2213935" y="1944257"/>
            <a:chExt cx="7552990" cy="473363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F1EBE5E-1EEB-5006-1C67-8F050D324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3935" y="1944257"/>
              <a:ext cx="7552990" cy="4733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1CD447BC-BD9B-B81B-A2FA-80D2ABF91048}"/>
                </a:ext>
              </a:extLst>
            </p:cNvPr>
            <p:cNvGrpSpPr/>
            <p:nvPr/>
          </p:nvGrpSpPr>
          <p:grpSpPr>
            <a:xfrm>
              <a:off x="2281382" y="4322618"/>
              <a:ext cx="7398327" cy="217056"/>
              <a:chOff x="2281382" y="4322618"/>
              <a:chExt cx="7398327" cy="217056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AACD82D0-74EC-1013-4BD9-DC7B9C6BC19D}"/>
                  </a:ext>
                </a:extLst>
              </p:cNvPr>
              <p:cNvCxnSpPr/>
              <p:nvPr/>
            </p:nvCxnSpPr>
            <p:spPr>
              <a:xfrm>
                <a:off x="4211782" y="4322618"/>
                <a:ext cx="5467927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C072BB53-045E-3E68-BE13-4A96DE85E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1382" y="4539674"/>
                <a:ext cx="5532582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50633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6D098-E35F-80BA-5908-62CE1704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적용 </a:t>
            </a:r>
            <a:r>
              <a:rPr lang="en-US" altLang="ko-KR"/>
              <a:t>url</a:t>
            </a:r>
            <a:r>
              <a:rPr lang="ko-KR" altLang="en-US"/>
              <a:t>  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286992D-B8D7-8A76-47FB-F98645DDE293}"/>
              </a:ext>
            </a:extLst>
          </p:cNvPr>
          <p:cNvGrpSpPr/>
          <p:nvPr/>
        </p:nvGrpSpPr>
        <p:grpSpPr>
          <a:xfrm>
            <a:off x="321072" y="1895053"/>
            <a:ext cx="2572109" cy="3991532"/>
            <a:chOff x="321072" y="1895053"/>
            <a:chExt cx="2572109" cy="399153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72B2479-BC15-4218-7245-B51A409DA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072" y="1895053"/>
              <a:ext cx="2572109" cy="399153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44B8283-CD54-EC0F-2E1A-1A855785BA68}"/>
                </a:ext>
              </a:extLst>
            </p:cNvPr>
            <p:cNvSpPr/>
            <p:nvPr/>
          </p:nvSpPr>
          <p:spPr>
            <a:xfrm>
              <a:off x="701964" y="3731491"/>
              <a:ext cx="1283854" cy="249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ADB490D-45AC-B9FF-1DB7-4543DC4B338F}"/>
              </a:ext>
            </a:extLst>
          </p:cNvPr>
          <p:cNvGrpSpPr/>
          <p:nvPr/>
        </p:nvGrpSpPr>
        <p:grpSpPr>
          <a:xfrm>
            <a:off x="3107842" y="1893758"/>
            <a:ext cx="4867954" cy="3924848"/>
            <a:chOff x="3107842" y="1893758"/>
            <a:chExt cx="4867954" cy="392484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8222C82-4865-397E-DFF9-8F66A06F4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07842" y="1893758"/>
              <a:ext cx="4867954" cy="3924848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AC10655-6B73-7418-A93C-3BF385D76952}"/>
                </a:ext>
              </a:extLst>
            </p:cNvPr>
            <p:cNvSpPr/>
            <p:nvPr/>
          </p:nvSpPr>
          <p:spPr>
            <a:xfrm>
              <a:off x="3860800" y="4414982"/>
              <a:ext cx="4114996" cy="1265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099A924D-702A-8511-43F0-F44005AF8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344" y="1893758"/>
            <a:ext cx="2905530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25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1440F-C013-B54C-E9CA-B9880072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LikeService - </a:t>
            </a:r>
            <a:r>
              <a:rPr lang="ko-KR" altLang="en-US" sz="3600"/>
              <a:t>좋아요 정보 </a:t>
            </a:r>
            <a:r>
              <a:rPr lang="en-US" altLang="ko-KR" sz="3600"/>
              <a:t>Redis </a:t>
            </a:r>
            <a:r>
              <a:rPr lang="ko-KR" altLang="en-US" sz="3600"/>
              <a:t>저장 메소드 추가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14DD9B-D2F5-64BA-0DFA-A89A8522A468}"/>
              </a:ext>
            </a:extLst>
          </p:cNvPr>
          <p:cNvGrpSpPr/>
          <p:nvPr/>
        </p:nvGrpSpPr>
        <p:grpSpPr>
          <a:xfrm>
            <a:off x="483723" y="1956641"/>
            <a:ext cx="2505425" cy="2962688"/>
            <a:chOff x="483723" y="1956641"/>
            <a:chExt cx="2505425" cy="296268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D5292E6-794F-3DAA-2946-6F37B1011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723" y="1956641"/>
              <a:ext cx="2505425" cy="296268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CB0B67E-121F-1FE2-31A9-5CE71D10C384}"/>
                </a:ext>
              </a:extLst>
            </p:cNvPr>
            <p:cNvSpPr/>
            <p:nvPr/>
          </p:nvSpPr>
          <p:spPr>
            <a:xfrm>
              <a:off x="960582" y="4704101"/>
              <a:ext cx="1320800" cy="2152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A379DAA-4FBF-9760-E02D-FD42BB5AF9B6}"/>
              </a:ext>
            </a:extLst>
          </p:cNvPr>
          <p:cNvGrpSpPr/>
          <p:nvPr/>
        </p:nvGrpSpPr>
        <p:grpSpPr>
          <a:xfrm>
            <a:off x="3044712" y="1956641"/>
            <a:ext cx="6163535" cy="4496427"/>
            <a:chOff x="3044712" y="1956641"/>
            <a:chExt cx="6163535" cy="449642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DF690D5-182D-BEAC-B516-287ADEFA8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4712" y="1956641"/>
              <a:ext cx="6163535" cy="4496427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9177200-BE76-44F7-DD93-F39697F3FAF9}"/>
                </a:ext>
              </a:extLst>
            </p:cNvPr>
            <p:cNvSpPr/>
            <p:nvPr/>
          </p:nvSpPr>
          <p:spPr>
            <a:xfrm>
              <a:off x="3916218" y="2770909"/>
              <a:ext cx="4396509" cy="2216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60860F2-25DA-B7C1-75BC-429A41FCB776}"/>
                </a:ext>
              </a:extLst>
            </p:cNvPr>
            <p:cNvSpPr/>
            <p:nvPr/>
          </p:nvSpPr>
          <p:spPr>
            <a:xfrm>
              <a:off x="4216400" y="5140037"/>
              <a:ext cx="4641273" cy="6049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37F31DC-7674-E3F8-8069-97696C56E5DE}"/>
              </a:ext>
            </a:extLst>
          </p:cNvPr>
          <p:cNvSpPr txBox="1"/>
          <p:nvPr/>
        </p:nvSpPr>
        <p:spPr>
          <a:xfrm>
            <a:off x="9208247" y="1956641"/>
            <a:ext cx="29837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@RequiredArgsConstructor</a:t>
            </a:r>
            <a:r>
              <a:rPr lang="ko-KR" altLang="en-US" sz="1200"/>
              <a:t>에 의해 </a:t>
            </a:r>
            <a:r>
              <a:rPr lang="en-US" altLang="ko-KR" sz="1200"/>
              <a:t>final </a:t>
            </a:r>
            <a:r>
              <a:rPr lang="ko-KR" altLang="en-US" sz="1200"/>
              <a:t>선언된 객체에 </a:t>
            </a:r>
            <a:r>
              <a:rPr lang="en-US" altLang="ko-KR" sz="1200"/>
              <a:t>constructor </a:t>
            </a:r>
            <a:r>
              <a:rPr lang="ko-KR" altLang="en-US" sz="1200"/>
              <a:t>의존성 주입이 이루어짐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27Line : </a:t>
            </a:r>
            <a:r>
              <a:rPr lang="ko-KR" altLang="en-US" sz="1200"/>
              <a:t>리스트 형태로 오른쪽에서 데이터를 추가해나감</a:t>
            </a:r>
            <a:r>
              <a:rPr lang="en-US" altLang="ko-KR" sz="1200"/>
              <a:t>.</a:t>
            </a: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63332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6C43A-0EA9-FFF9-CBD7-7ACE0590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WriteBack </a:t>
            </a:r>
            <a:r>
              <a:rPr lang="ko-KR" altLang="en-US" sz="4000"/>
              <a:t>전략을 위한 </a:t>
            </a:r>
            <a:r>
              <a:rPr lang="en-US" altLang="ko-KR" sz="4000"/>
              <a:t>Scheduler </a:t>
            </a:r>
            <a:r>
              <a:rPr lang="ko-KR" altLang="en-US" sz="4000"/>
              <a:t>작성</a:t>
            </a:r>
            <a:r>
              <a:rPr lang="en-US" altLang="ko-KR" sz="4000"/>
              <a:t>-1</a:t>
            </a:r>
            <a:endParaRPr lang="ko-KR" altLang="en-US" sz="4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85E108-3B55-9826-6006-19F96F8E2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209" y="1967787"/>
            <a:ext cx="6430272" cy="1943371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EC9BAA94-6102-5E85-EF22-C40044C43226}"/>
              </a:ext>
            </a:extLst>
          </p:cNvPr>
          <p:cNvGrpSpPr/>
          <p:nvPr/>
        </p:nvGrpSpPr>
        <p:grpSpPr>
          <a:xfrm>
            <a:off x="967577" y="1967787"/>
            <a:ext cx="3181794" cy="3610479"/>
            <a:chOff x="967577" y="1967787"/>
            <a:chExt cx="3181794" cy="361047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166E82B-83E9-CE86-C2B9-0BF43E4B9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7577" y="1967787"/>
              <a:ext cx="3181794" cy="3610479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52215E8-B309-C5B6-96BE-CCC78BD556D3}"/>
                </a:ext>
              </a:extLst>
            </p:cNvPr>
            <p:cNvSpPr/>
            <p:nvPr/>
          </p:nvSpPr>
          <p:spPr>
            <a:xfrm>
              <a:off x="1330036" y="5283200"/>
              <a:ext cx="2613891" cy="2950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56314D9-641B-883F-22DB-C5F157B68906}"/>
              </a:ext>
            </a:extLst>
          </p:cNvPr>
          <p:cNvSpPr txBox="1"/>
          <p:nvPr/>
        </p:nvSpPr>
        <p:spPr>
          <a:xfrm>
            <a:off x="4340209" y="3911158"/>
            <a:ext cx="75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application </a:t>
            </a:r>
            <a:r>
              <a:rPr lang="ko-KR" altLang="en-US" sz="1200"/>
              <a:t>실행 클래스에 </a:t>
            </a:r>
            <a:r>
              <a:rPr lang="en-US" altLang="ko-KR" sz="1200" b="1">
                <a:solidFill>
                  <a:srgbClr val="FF0000"/>
                </a:solidFill>
              </a:rPr>
              <a:t>@EnableScheduling</a:t>
            </a:r>
            <a:r>
              <a:rPr lang="en-US" altLang="ko-KR" sz="1200"/>
              <a:t> </a:t>
            </a:r>
            <a:r>
              <a:rPr lang="ko-KR" altLang="en-US" sz="1200"/>
              <a:t>애노테이션을 추가해야</a:t>
            </a:r>
            <a:r>
              <a:rPr lang="en-US" altLang="ko-KR" sz="1200"/>
              <a:t> Schedule </a:t>
            </a:r>
            <a:r>
              <a:rPr lang="ko-KR" altLang="en-US" sz="1200"/>
              <a:t>기능을 사용할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06289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2B463-7EDF-FBC5-5DF8-2EB3A874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WriteBack </a:t>
            </a:r>
            <a:r>
              <a:rPr lang="ko-KR" altLang="en-US" sz="4000"/>
              <a:t>전략을 위한 </a:t>
            </a:r>
            <a:r>
              <a:rPr lang="en-US" altLang="ko-KR" sz="4000"/>
              <a:t>Scheduler </a:t>
            </a:r>
            <a:r>
              <a:rPr lang="ko-KR" altLang="en-US" sz="4000"/>
              <a:t>작성</a:t>
            </a:r>
            <a:r>
              <a:rPr lang="en-US" altLang="ko-KR" sz="4000"/>
              <a:t>-2</a:t>
            </a:r>
            <a:endParaRPr lang="ko-KR" altLang="en-US" sz="40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607D9A9-9073-6A3F-C337-2FD1347A4D5C}"/>
              </a:ext>
            </a:extLst>
          </p:cNvPr>
          <p:cNvGrpSpPr/>
          <p:nvPr/>
        </p:nvGrpSpPr>
        <p:grpSpPr>
          <a:xfrm>
            <a:off x="332007" y="1947033"/>
            <a:ext cx="3067478" cy="3610479"/>
            <a:chOff x="332007" y="1947033"/>
            <a:chExt cx="3067478" cy="361047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1B3E44A-F7A0-4888-0D3C-9B57AF7F1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2007" y="1947033"/>
              <a:ext cx="3067478" cy="361047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AA6881C-6592-CAFD-C09E-65FD904F3BBD}"/>
                </a:ext>
              </a:extLst>
            </p:cNvPr>
            <p:cNvSpPr/>
            <p:nvPr/>
          </p:nvSpPr>
          <p:spPr>
            <a:xfrm>
              <a:off x="692727" y="4470400"/>
              <a:ext cx="1274618" cy="2124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BCF929B-1C4B-9C2A-F8D4-99C7F9B9F0F4}"/>
              </a:ext>
            </a:extLst>
          </p:cNvPr>
          <p:cNvSpPr txBox="1"/>
          <p:nvPr/>
        </p:nvSpPr>
        <p:spPr>
          <a:xfrm>
            <a:off x="3500581" y="1947033"/>
            <a:ext cx="818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스케줄러 작성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1ED8C3B-CB97-9240-EA6D-DFAF5E854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581" y="2316365"/>
            <a:ext cx="4674772" cy="40118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626C67-8B8C-64F8-2516-40707C5E50B2}"/>
              </a:ext>
            </a:extLst>
          </p:cNvPr>
          <p:cNvSpPr/>
          <p:nvPr/>
        </p:nvSpPr>
        <p:spPr>
          <a:xfrm>
            <a:off x="4442692" y="3823854"/>
            <a:ext cx="3732662" cy="1733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E97C524-3CA8-0851-CC55-5CACEF6E8185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8175354" y="3870036"/>
            <a:ext cx="423701" cy="8206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DE7B60-84E8-2116-9801-61A265568984}"/>
              </a:ext>
            </a:extLst>
          </p:cNvPr>
          <p:cNvSpPr txBox="1"/>
          <p:nvPr/>
        </p:nvSpPr>
        <p:spPr>
          <a:xfrm>
            <a:off x="8599055" y="2613556"/>
            <a:ext cx="2798618" cy="3139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/>
              <a:t>키 </a:t>
            </a:r>
            <a:r>
              <a:rPr lang="en-US" altLang="ko-KR" sz="1100"/>
              <a:t>(like_queue) </a:t>
            </a:r>
            <a:r>
              <a:rPr lang="ko-KR" altLang="en-US" sz="1100"/>
              <a:t>로 </a:t>
            </a:r>
            <a:r>
              <a:rPr lang="en-US" altLang="ko-KR" sz="1100"/>
              <a:t>value</a:t>
            </a:r>
            <a:r>
              <a:rPr lang="ko-KR" altLang="en-US" sz="1100"/>
              <a:t>를 가져옴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userId:1:postId:1</a:t>
            </a:r>
          </a:p>
          <a:p>
            <a:endParaRPr lang="en-US" altLang="ko-KR" sz="1100"/>
          </a:p>
          <a:p>
            <a:r>
              <a:rPr lang="en-US" altLang="ko-KR" sz="1100"/>
              <a:t>Like</a:t>
            </a:r>
            <a:r>
              <a:rPr lang="ko-KR" altLang="en-US" sz="1100"/>
              <a:t> 인스턴스에 해당하는 정보는 숫자값임으로 </a:t>
            </a:r>
            <a:r>
              <a:rPr lang="en-US" altLang="ko-KR" sz="1100"/>
              <a:t>Split</a:t>
            </a:r>
            <a:r>
              <a:rPr lang="ko-KR" altLang="en-US" sz="1100"/>
              <a:t>된 배열 위치를 통해 </a:t>
            </a:r>
            <a:r>
              <a:rPr lang="en-US" altLang="ko-KR" sz="1100"/>
              <a:t>userId</a:t>
            </a:r>
            <a:r>
              <a:rPr lang="ko-KR" altLang="en-US" sz="1100"/>
              <a:t>와 </a:t>
            </a:r>
            <a:r>
              <a:rPr lang="en-US" altLang="ko-KR" sz="1100"/>
              <a:t>postId</a:t>
            </a:r>
            <a:r>
              <a:rPr lang="ko-KR" altLang="en-US" sz="1100"/>
              <a:t>를 저장하고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List</a:t>
            </a:r>
            <a:r>
              <a:rPr lang="ko-KR" altLang="en-US" sz="1100"/>
              <a:t>에 계속하여 추가</a:t>
            </a:r>
            <a:r>
              <a:rPr lang="en-US" altLang="ko-KR" sz="1100"/>
              <a:t>.</a:t>
            </a:r>
            <a:br>
              <a:rPr lang="en-US" altLang="ko-KR" sz="1100"/>
            </a:br>
            <a:endParaRPr lang="en-US" altLang="ko-KR" sz="1100"/>
          </a:p>
          <a:p>
            <a:r>
              <a:rPr lang="en-US" altLang="ko-KR" sz="1100"/>
              <a:t>List</a:t>
            </a:r>
            <a:r>
              <a:rPr lang="ko-KR" altLang="en-US" sz="1100"/>
              <a:t>에 쌓인 </a:t>
            </a:r>
            <a:r>
              <a:rPr lang="en-US" altLang="ko-KR" sz="1100"/>
              <a:t>Like </a:t>
            </a:r>
            <a:r>
              <a:rPr lang="ko-KR" altLang="en-US" sz="1100"/>
              <a:t>엔티티가 </a:t>
            </a:r>
            <a:r>
              <a:rPr lang="en-US" altLang="ko-KR" sz="1100"/>
              <a:t>1000</a:t>
            </a:r>
            <a:r>
              <a:rPr lang="ko-KR" altLang="en-US" sz="1100"/>
              <a:t>개 도달시 </a:t>
            </a:r>
            <a:br>
              <a:rPr lang="en-US" altLang="ko-KR" sz="1100"/>
            </a:br>
            <a:r>
              <a:rPr lang="ko-KR" altLang="en-US" sz="1100"/>
              <a:t>반복문을 빠져나오면서 한번에 </a:t>
            </a:r>
            <a:r>
              <a:rPr lang="en-US" altLang="ko-KR" sz="1100"/>
              <a:t>Insert </a:t>
            </a:r>
            <a:r>
              <a:rPr lang="ko-KR" altLang="en-US" sz="1100"/>
              <a:t>수행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1099</a:t>
            </a:r>
            <a:r>
              <a:rPr lang="ko-KR" altLang="en-US" sz="1100"/>
              <a:t>개의 정보를 저장한다 가정했을때</a:t>
            </a:r>
            <a:r>
              <a:rPr lang="en-US" altLang="ko-KR" sz="1100"/>
              <a:t>, </a:t>
            </a:r>
            <a:r>
              <a:rPr lang="ko-KR" altLang="en-US" sz="1100"/>
              <a:t>나머지 </a:t>
            </a:r>
            <a:r>
              <a:rPr lang="en-US" altLang="ko-KR" sz="1100"/>
              <a:t>99</a:t>
            </a:r>
            <a:r>
              <a:rPr lang="ko-KR" altLang="en-US" sz="1100"/>
              <a:t>개의 </a:t>
            </a:r>
            <a:r>
              <a:rPr lang="en-US" altLang="ko-KR" sz="1100"/>
              <a:t>Redis List</a:t>
            </a:r>
            <a:r>
              <a:rPr lang="ko-KR" altLang="en-US" sz="1100"/>
              <a:t>에 저장된 정보들은 </a:t>
            </a:r>
            <a:br>
              <a:rPr lang="en-US" altLang="ko-KR" sz="1100"/>
            </a:br>
            <a:r>
              <a:rPr lang="en-US" altLang="ko-KR" sz="1100"/>
              <a:t>leftPop() </a:t>
            </a:r>
            <a:r>
              <a:rPr lang="ko-KR" altLang="en-US" sz="1100"/>
              <a:t>에 의해 </a:t>
            </a:r>
            <a:r>
              <a:rPr lang="en-US" altLang="ko-KR" sz="1100"/>
              <a:t>List&lt;Like&gt;</a:t>
            </a:r>
            <a:r>
              <a:rPr lang="ko-KR" altLang="en-US" sz="1100"/>
              <a:t>에 하나씩 저장되며 반대로 </a:t>
            </a:r>
            <a:r>
              <a:rPr lang="en-US" altLang="ko-KR" sz="1100"/>
              <a:t>Redis List </a:t>
            </a:r>
            <a:r>
              <a:rPr lang="ko-KR" altLang="en-US" sz="1100"/>
              <a:t>에는 줄어든다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ko-KR" altLang="en-US" sz="1100"/>
              <a:t>결국 </a:t>
            </a:r>
            <a:r>
              <a:rPr lang="en-US" altLang="ko-KR" sz="1100"/>
              <a:t>Redis List</a:t>
            </a:r>
            <a:r>
              <a:rPr lang="ko-KR" altLang="en-US" sz="1100"/>
              <a:t>가 비어 </a:t>
            </a:r>
            <a:r>
              <a:rPr lang="en-US" altLang="ko-KR" sz="1100"/>
              <a:t>null</a:t>
            </a:r>
            <a:r>
              <a:rPr lang="ko-KR" altLang="en-US" sz="1100"/>
              <a:t>을 반환하면 무한 반복문을 빠져나오며</a:t>
            </a:r>
            <a:r>
              <a:rPr lang="en-US" altLang="ko-KR" sz="1100"/>
              <a:t>, List&lt;Like&gt;</a:t>
            </a:r>
            <a:r>
              <a:rPr lang="ko-KR" altLang="en-US" sz="1100"/>
              <a:t>에 쌓인 정보가 </a:t>
            </a:r>
            <a:r>
              <a:rPr lang="en-US" altLang="ko-KR" sz="1100"/>
              <a:t>Insert </a:t>
            </a:r>
            <a:r>
              <a:rPr lang="ko-KR" altLang="en-US" sz="1100"/>
              <a:t>되는 구조이다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4239515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B5F1A-7567-41A2-BA1F-95CF001E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를 적용한 성능 개선 테스트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049746-D918-1627-B3B4-3C1BB5A58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343" y="2398000"/>
            <a:ext cx="7653118" cy="37164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B319C8-E21F-871C-C8F6-6CA587F780AA}"/>
              </a:ext>
            </a:extLst>
          </p:cNvPr>
          <p:cNvSpPr txBox="1"/>
          <p:nvPr/>
        </p:nvSpPr>
        <p:spPr>
          <a:xfrm>
            <a:off x="3574473" y="1948873"/>
            <a:ext cx="5264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k6 run scripts/script_1-2.js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7653A1-A04F-4EEB-1BBF-51BC0B45A2DA}"/>
              </a:ext>
            </a:extLst>
          </p:cNvPr>
          <p:cNvSpPr/>
          <p:nvPr/>
        </p:nvSpPr>
        <p:spPr>
          <a:xfrm>
            <a:off x="3786909" y="4256237"/>
            <a:ext cx="4128655" cy="3896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3D90A7-0F55-2CEE-6EC4-CAF92C42A112}"/>
              </a:ext>
            </a:extLst>
          </p:cNvPr>
          <p:cNvGrpSpPr/>
          <p:nvPr/>
        </p:nvGrpSpPr>
        <p:grpSpPr>
          <a:xfrm>
            <a:off x="407057" y="3114631"/>
            <a:ext cx="2991267" cy="1016421"/>
            <a:chOff x="407057" y="3114631"/>
            <a:chExt cx="2991267" cy="101642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A410F38-A5BE-08F7-A2E6-283DD53E4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057" y="3114631"/>
              <a:ext cx="2991267" cy="62873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E3F6EB-FFF7-29B3-380B-0690C4CC4689}"/>
                </a:ext>
              </a:extLst>
            </p:cNvPr>
            <p:cNvSpPr txBox="1"/>
            <p:nvPr/>
          </p:nvSpPr>
          <p:spPr>
            <a:xfrm>
              <a:off x="407057" y="3761720"/>
              <a:ext cx="2974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Redis </a:t>
              </a:r>
              <a:r>
                <a:rPr lang="ko-KR" altLang="en-US"/>
                <a:t>미적용 성능</a:t>
              </a:r>
            </a:p>
          </p:txBody>
        </p:sp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2217478-C8BC-2501-87D5-CE9B898E5480}"/>
              </a:ext>
            </a:extLst>
          </p:cNvPr>
          <p:cNvCxnSpPr>
            <a:cxnSpLocks/>
          </p:cNvCxnSpPr>
          <p:nvPr/>
        </p:nvCxnSpPr>
        <p:spPr>
          <a:xfrm>
            <a:off x="3260436" y="3519055"/>
            <a:ext cx="2590800" cy="737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483F743-92A9-61AD-4E5A-EE540C375BD2}"/>
              </a:ext>
            </a:extLst>
          </p:cNvPr>
          <p:cNvSpPr txBox="1"/>
          <p:nvPr/>
        </p:nvSpPr>
        <p:spPr>
          <a:xfrm>
            <a:off x="407057" y="4451064"/>
            <a:ext cx="30935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거의 </a:t>
            </a:r>
            <a:r>
              <a:rPr lang="en-US" altLang="ko-KR" sz="1200"/>
              <a:t>15</a:t>
            </a:r>
            <a:r>
              <a:rPr lang="ko-KR" altLang="en-US" sz="1200"/>
              <a:t>배정도의 성능 상승 확인 </a:t>
            </a:r>
            <a:r>
              <a:rPr lang="en-US" altLang="ko-KR" sz="1200"/>
              <a:t>/ </a:t>
            </a:r>
            <a:r>
              <a:rPr lang="ko-KR" altLang="en-US" sz="1200"/>
              <a:t>오류률도 개선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그러나 왜 요청 실패가 발생했는지 살펴봐야하긴 하다</a:t>
            </a:r>
            <a:r>
              <a:rPr lang="en-US" altLang="ko-KR" sz="1200"/>
              <a:t>..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53696049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200</TotalTime>
  <Words>669</Words>
  <Application>Microsoft Office PowerPoint</Application>
  <PresentationFormat>와이드스크린</PresentationFormat>
  <Paragraphs>78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Consolas</vt:lpstr>
      <vt:lpstr>추억</vt:lpstr>
      <vt:lpstr>Redis로 쓰기작업에 대한 DB 부하줄이기</vt:lpstr>
      <vt:lpstr>Redis List 명령어 (Redis-cli)</vt:lpstr>
      <vt:lpstr>시나리오</vt:lpstr>
      <vt:lpstr>성능이 낮은 DB 구성하기</vt:lpstr>
      <vt:lpstr>K6 테스트 </vt:lpstr>
      <vt:lpstr>K6 테스트 </vt:lpstr>
      <vt:lpstr>해결 방법 (이론 정리)</vt:lpstr>
      <vt:lpstr>Redis 적용 url  추가</vt:lpstr>
      <vt:lpstr>LikeService - 좋아요 정보 Redis 저장 메소드 추가</vt:lpstr>
      <vt:lpstr>WriteBack 전략을 위한 Scheduler 작성-1</vt:lpstr>
      <vt:lpstr>WriteBack 전략을 위한 Scheduler 작성-2</vt:lpstr>
      <vt:lpstr>Redis 를 적용한 성능 개선 테스트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23</cp:revision>
  <dcterms:created xsi:type="dcterms:W3CDTF">2026-08-27T12:26:47Z</dcterms:created>
  <dcterms:modified xsi:type="dcterms:W3CDTF">2026-08-28T10:38:20Z</dcterms:modified>
</cp:coreProperties>
</file>