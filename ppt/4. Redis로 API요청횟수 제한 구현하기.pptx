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2" r:id="rId5"/>
    <p:sldId id="263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FDE809F-7F08-43D5-AAB3-5A8AA37C671B}">
          <p14:sldIdLst>
            <p14:sldId id="256"/>
            <p14:sldId id="257"/>
          </p14:sldIdLst>
        </p14:section>
        <p14:section name="API 10초 제한 이론" id="{E2DEB7B5-A943-4763-A891-EA1F5DA960FA}">
          <p14:sldIdLst>
            <p14:sldId id="261"/>
            <p14:sldId id="262"/>
            <p14:sldId id="263"/>
          </p14:sldIdLst>
        </p14:section>
        <p14:section name="10초 동안 5회 제한 로직 구현" id="{F5CBCF9E-63EA-4953-9E16-56DAD82205CA}">
          <p14:sldIdLst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75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A4378-CF11-4666-8C60-C10C97F5D4C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2B02-6511-474B-A3BA-EA8AE26BB35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450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A4378-CF11-4666-8C60-C10C97F5D4C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2B02-6511-474B-A3BA-EA8AE26BB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535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A4378-CF11-4666-8C60-C10C97F5D4C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2B02-6511-474B-A3BA-EA8AE26BB35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404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A4378-CF11-4666-8C60-C10C97F5D4C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2B02-6511-474B-A3BA-EA8AE26BB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068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A4378-CF11-4666-8C60-C10C97F5D4C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2B02-6511-474B-A3BA-EA8AE26BB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36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A4378-CF11-4666-8C60-C10C97F5D4C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2B02-6511-474B-A3BA-EA8AE26BB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5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A4378-CF11-4666-8C60-C10C97F5D4C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2B02-6511-474B-A3BA-EA8AE26BB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511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44A4378-CF11-4666-8C60-C10C97F5D4C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F2B02-6511-474B-A3BA-EA8AE26BB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51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A4378-CF11-4666-8C60-C10C97F5D4C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2B02-6511-474B-A3BA-EA8AE26BB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08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A4378-CF11-4666-8C60-C10C97F5D4C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2B02-6511-474B-A3BA-EA8AE26BB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885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A4378-CF11-4666-8C60-C10C97F5D4C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2B02-6511-474B-A3BA-EA8AE26BB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78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44A4378-CF11-4666-8C60-C10C97F5D4C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4BF2B02-6511-474B-A3BA-EA8AE26BB35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752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A62D3-6CAA-BCD3-F29A-3442621D15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/>
              <a:t>Redis</a:t>
            </a:r>
            <a:r>
              <a:rPr lang="ko-KR" altLang="en-US" sz="4800"/>
              <a:t>로 </a:t>
            </a:r>
            <a:r>
              <a:rPr lang="en-US" altLang="ko-KR" sz="4800"/>
              <a:t>API</a:t>
            </a:r>
            <a:r>
              <a:rPr lang="ko-KR" altLang="en-US" sz="4800"/>
              <a:t>요청횟수 제한 구현하기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280A37-3001-88BE-23EF-E498F28DA2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CA67A-9638-3664-6CD5-856E0EB88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ZSet </a:t>
            </a:r>
            <a:r>
              <a:rPr lang="ko-KR" altLang="en-US" sz="3200"/>
              <a:t>자료구조</a:t>
            </a:r>
            <a:r>
              <a:rPr lang="en-US" altLang="ko-KR" sz="3200"/>
              <a:t>(ZCARD, ZREMRANGEBYSCORE, EXPIRE)</a:t>
            </a:r>
            <a:endParaRPr lang="ko-KR" altLang="en-US" sz="3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7F023D-D22D-6A77-BC33-A4CFC5997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03" y="1842866"/>
            <a:ext cx="3534268" cy="3172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EA868D-AD26-2416-8C07-6D4A7245F4EC}"/>
              </a:ext>
            </a:extLst>
          </p:cNvPr>
          <p:cNvSpPr txBox="1"/>
          <p:nvPr/>
        </p:nvSpPr>
        <p:spPr>
          <a:xfrm>
            <a:off x="4110182" y="1842866"/>
            <a:ext cx="70454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apple 1 / melon 3 / banana 5 zset("ranking")</a:t>
            </a:r>
            <a:r>
              <a:rPr lang="ko-KR" altLang="en-US"/>
              <a:t>등록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zcard [key] </a:t>
            </a:r>
            <a:r>
              <a:rPr lang="en-US" altLang="ko-KR">
                <a:sym typeface="Wingdings" panose="05000000000000000000" pitchFamily="2" charset="2"/>
              </a:rPr>
              <a:t> key </a:t>
            </a:r>
            <a:r>
              <a:rPr lang="ko-KR" altLang="en-US">
                <a:sym typeface="Wingdings" panose="05000000000000000000" pitchFamily="2" charset="2"/>
              </a:rPr>
              <a:t>로 등록된 값 개수</a:t>
            </a:r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zremrangebyscore 0 3  0~3 </a:t>
            </a:r>
            <a:r>
              <a:rPr lang="ko-KR" altLang="en-US">
                <a:sym typeface="Wingdings" panose="05000000000000000000" pitchFamily="2" charset="2"/>
              </a:rPr>
              <a:t>내 </a:t>
            </a:r>
            <a:r>
              <a:rPr lang="en-US" altLang="ko-KR">
                <a:sym typeface="Wingdings" panose="05000000000000000000" pitchFamily="2" charset="2"/>
              </a:rPr>
              <a:t>score</a:t>
            </a:r>
            <a:r>
              <a:rPr lang="ko-KR" altLang="en-US">
                <a:sym typeface="Wingdings" panose="05000000000000000000" pitchFamily="2" charset="2"/>
              </a:rPr>
              <a:t> 값은 삭제</a:t>
            </a:r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zrange [key] 0 -1 withscores  ZSET </a:t>
            </a:r>
            <a:r>
              <a:rPr lang="ko-KR" altLang="en-US">
                <a:sym typeface="Wingdings" panose="05000000000000000000" pitchFamily="2" charset="2"/>
              </a:rPr>
              <a:t>오름차순 정렬 </a:t>
            </a:r>
            <a:r>
              <a:rPr lang="en-US" altLang="ko-KR">
                <a:sym typeface="Wingdings" panose="05000000000000000000" pitchFamily="2" charset="2"/>
              </a:rPr>
              <a:t>(</a:t>
            </a:r>
            <a:r>
              <a:rPr lang="ko-KR" altLang="en-US">
                <a:sym typeface="Wingdings" panose="05000000000000000000" pitchFamily="2" charset="2"/>
              </a:rPr>
              <a:t>점수와 함께 확인</a:t>
            </a:r>
            <a:r>
              <a:rPr lang="en-US" altLang="ko-KR">
                <a:sym typeface="Wingdings" panose="05000000000000000000" pitchFamily="2" charset="2"/>
              </a:rPr>
              <a:t>)</a:t>
            </a: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9433097-E06E-A5A3-47D8-B2C69F2A5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061" y="3334327"/>
            <a:ext cx="2386154" cy="33989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8603B5-3AFA-CC4F-EFDD-18181DBFA5A3}"/>
              </a:ext>
            </a:extLst>
          </p:cNvPr>
          <p:cNvSpPr txBox="1"/>
          <p:nvPr/>
        </p:nvSpPr>
        <p:spPr>
          <a:xfrm>
            <a:off x="6696364" y="3352800"/>
            <a:ext cx="530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ZSET KEY</a:t>
            </a:r>
            <a:r>
              <a:rPr lang="ko-KR" altLang="en-US"/>
              <a:t>에 대해 </a:t>
            </a:r>
            <a:r>
              <a:rPr lang="en-US" altLang="ko-KR"/>
              <a:t>TTL </a:t>
            </a:r>
            <a:r>
              <a:rPr lang="ko-KR" altLang="en-US"/>
              <a:t>설정 </a:t>
            </a:r>
            <a:endParaRPr lang="en-US" altLang="ko-KR"/>
          </a:p>
          <a:p>
            <a:r>
              <a:rPr lang="en-US" altLang="ko-KR"/>
              <a:t>KEY</a:t>
            </a:r>
            <a:r>
              <a:rPr lang="ko-KR" altLang="en-US"/>
              <a:t> </a:t>
            </a:r>
            <a:r>
              <a:rPr lang="en-US" altLang="ko-KR"/>
              <a:t>*</a:t>
            </a:r>
            <a:r>
              <a:rPr lang="ko-KR" altLang="en-US"/>
              <a:t> 등록된 </a:t>
            </a:r>
            <a:r>
              <a:rPr lang="en-US" altLang="ko-KR"/>
              <a:t>KEY </a:t>
            </a:r>
            <a:r>
              <a:rPr lang="ko-KR" altLang="en-US"/>
              <a:t>전부 확인</a:t>
            </a:r>
          </a:p>
        </p:txBody>
      </p:sp>
    </p:spTree>
    <p:extLst>
      <p:ext uri="{BB962C8B-B14F-4D97-AF65-F5344CB8AC3E}">
        <p14:creationId xmlns:p14="http://schemas.microsoft.com/office/powerpoint/2010/main" val="2985451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AA6282C-7C43-1FF5-2DEB-ACED673D3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744" y="505034"/>
            <a:ext cx="8630854" cy="47917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93870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2882F-86BA-2B4D-052B-F85CF4E37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184FB786-5721-75A7-688C-DCD54F4C2CFA}"/>
              </a:ext>
            </a:extLst>
          </p:cNvPr>
          <p:cNvGrpSpPr/>
          <p:nvPr/>
        </p:nvGrpSpPr>
        <p:grpSpPr>
          <a:xfrm>
            <a:off x="1388419" y="643592"/>
            <a:ext cx="9211961" cy="4708605"/>
            <a:chOff x="1490019" y="1862792"/>
            <a:chExt cx="9211961" cy="470860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2B6F13C-8EAD-1DF5-4F12-70D3B83D4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0019" y="1862792"/>
              <a:ext cx="9211961" cy="952633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DA1F82B-45A3-D6A4-04B2-F980F212E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58790" y="2598918"/>
              <a:ext cx="7735380" cy="39724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433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1DD19-6C53-27F4-A67C-8B0A11327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1F2A4C5-FAD6-52B4-8EBC-01284B21E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64" y="560789"/>
            <a:ext cx="10253657" cy="520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1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60BB59-0F6B-8DAB-DB12-7195FFFDB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요청 </a:t>
            </a:r>
            <a:r>
              <a:rPr lang="en-US" altLang="ko-KR"/>
              <a:t>10</a:t>
            </a:r>
            <a:r>
              <a:rPr lang="ko-KR" altLang="en-US"/>
              <a:t>초 제한로직 작성 </a:t>
            </a:r>
            <a:r>
              <a:rPr lang="en-US" altLang="ko-KR"/>
              <a:t>- RateLimiter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4D52A7-B8DE-1BCE-99B6-7AA52B923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968" y="1874925"/>
            <a:ext cx="4420460" cy="4929191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A076F292-A8E3-39BA-8C3F-5A608C3471A4}"/>
              </a:ext>
            </a:extLst>
          </p:cNvPr>
          <p:cNvGrpSpPr/>
          <p:nvPr/>
        </p:nvGrpSpPr>
        <p:grpSpPr>
          <a:xfrm>
            <a:off x="269092" y="1874925"/>
            <a:ext cx="2291621" cy="2239875"/>
            <a:chOff x="269092" y="1874925"/>
            <a:chExt cx="2291621" cy="223987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BDA9638-F5FD-12AE-38F4-5D5C04F9C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9092" y="1874925"/>
              <a:ext cx="2291621" cy="2239875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F1B58FC-37BC-CE8A-7B0C-6F05C00B63F3}"/>
                </a:ext>
              </a:extLst>
            </p:cNvPr>
            <p:cNvSpPr/>
            <p:nvPr/>
          </p:nvSpPr>
          <p:spPr>
            <a:xfrm>
              <a:off x="532356" y="3429000"/>
              <a:ext cx="1039660" cy="13778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0FE58BF-743A-1318-F5DA-12CCD9EC85DA}"/>
              </a:ext>
            </a:extLst>
          </p:cNvPr>
          <p:cNvSpPr txBox="1"/>
          <p:nvPr/>
        </p:nvSpPr>
        <p:spPr>
          <a:xfrm>
            <a:off x="7090428" y="1874925"/>
            <a:ext cx="4978399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12 Line : 10</a:t>
            </a:r>
            <a:r>
              <a:rPr lang="ko-KR" altLang="en-US" sz="1000"/>
              <a:t>초 </a:t>
            </a:r>
            <a:r>
              <a:rPr lang="en-US" altLang="ko-KR" sz="1000"/>
              <a:t>(ms</a:t>
            </a:r>
            <a:r>
              <a:rPr lang="ko-KR" altLang="en-US" sz="1000"/>
              <a:t>단위로 설정</a:t>
            </a:r>
            <a:r>
              <a:rPr lang="en-US" altLang="ko-KR" sz="1000"/>
              <a:t>) </a:t>
            </a:r>
          </a:p>
          <a:p>
            <a:r>
              <a:rPr lang="en-US" altLang="ko-KR" sz="1000"/>
              <a:t>13 Line : API </a:t>
            </a:r>
            <a:r>
              <a:rPr lang="ko-KR" altLang="en-US" sz="1000"/>
              <a:t>개수 제한 기준 상수</a:t>
            </a:r>
            <a:endParaRPr lang="en-US" altLang="ko-KR" sz="1000"/>
          </a:p>
          <a:p>
            <a:endParaRPr lang="en-US" altLang="ko-KR" sz="900"/>
          </a:p>
          <a:p>
            <a:r>
              <a:rPr lang="en-US" altLang="ko-KR" sz="900"/>
              <a:t>15~19 Line : RedisTemplate</a:t>
            </a:r>
            <a:r>
              <a:rPr lang="ko-KR" altLang="en-US" sz="900"/>
              <a:t> 의존성 주입</a:t>
            </a:r>
            <a:endParaRPr lang="en-US" altLang="ko-KR" sz="900"/>
          </a:p>
          <a:p>
            <a:r>
              <a:rPr lang="en-US" altLang="ko-KR" sz="900"/>
              <a:t>21 Line : </a:t>
            </a:r>
            <a:r>
              <a:rPr lang="ko-KR" altLang="en-US" sz="900"/>
              <a:t>어떤 사용자가 요청을 보내오는지 파악해야함으로 인자값으로 </a:t>
            </a:r>
            <a:r>
              <a:rPr lang="en-US" altLang="ko-KR" sz="900"/>
              <a:t>userId</a:t>
            </a:r>
            <a:r>
              <a:rPr lang="ko-KR" altLang="en-US" sz="900"/>
              <a:t>를 전달 받는다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22 Line : </a:t>
            </a:r>
            <a:r>
              <a:rPr lang="ko-KR" altLang="en-US" sz="900"/>
              <a:t>현재 시간 저장</a:t>
            </a:r>
            <a:endParaRPr lang="en-US" altLang="ko-KR" sz="900"/>
          </a:p>
          <a:p>
            <a:r>
              <a:rPr lang="en-US" altLang="ko-KR" sz="900"/>
              <a:t>23 Line : Redis key </a:t>
            </a:r>
            <a:r>
              <a:rPr lang="ko-KR" altLang="en-US" sz="900"/>
              <a:t>조합</a:t>
            </a:r>
            <a:endParaRPr lang="en-US" altLang="ko-KR" sz="900"/>
          </a:p>
          <a:p>
            <a:r>
              <a:rPr lang="en-US" altLang="ko-KR" sz="900"/>
              <a:t>24 Line</a:t>
            </a:r>
            <a:r>
              <a:rPr lang="ko-KR" altLang="en-US" sz="900"/>
              <a:t> </a:t>
            </a:r>
            <a:r>
              <a:rPr lang="en-US" altLang="ko-KR" sz="900"/>
              <a:t>:</a:t>
            </a:r>
            <a:r>
              <a:rPr lang="ko-KR" altLang="en-US" sz="900"/>
              <a:t> 요청에 대한 고유 </a:t>
            </a:r>
            <a:r>
              <a:rPr lang="en-US" altLang="ko-KR" sz="900"/>
              <a:t>ID ( Value</a:t>
            </a:r>
            <a:r>
              <a:rPr lang="ko-KR" altLang="en-US" sz="900"/>
              <a:t>로써 저장됨 </a:t>
            </a:r>
            <a:r>
              <a:rPr lang="en-US" altLang="ko-KR" sz="900"/>
              <a:t>)</a:t>
            </a:r>
          </a:p>
          <a:p>
            <a:r>
              <a:rPr lang="en-US" altLang="ko-KR" sz="900"/>
              <a:t>25~27Line : </a:t>
            </a:r>
            <a:r>
              <a:rPr lang="ko-KR" altLang="en-US" sz="900"/>
              <a:t>현재 요청을 처리하는 시점으로 부터 </a:t>
            </a:r>
            <a:r>
              <a:rPr lang="en-US" altLang="ko-KR" sz="900"/>
              <a:t>-10</a:t>
            </a:r>
            <a:r>
              <a:rPr lang="ko-KR" altLang="en-US" sz="900"/>
              <a:t>초 이전의 요청은 싹다 삭제</a:t>
            </a:r>
            <a:r>
              <a:rPr lang="en-US" altLang="ko-KR" sz="900"/>
              <a:t>.</a:t>
            </a:r>
            <a:br>
              <a:rPr lang="en-US" altLang="ko-KR" sz="900"/>
            </a:br>
            <a:r>
              <a:rPr lang="en-US" altLang="ko-KR" sz="900"/>
              <a:t>                     </a:t>
            </a:r>
            <a:r>
              <a:rPr lang="ko-KR" altLang="en-US" sz="900"/>
              <a:t>즉  </a:t>
            </a:r>
            <a:r>
              <a:rPr lang="en-US" altLang="ko-KR" sz="900"/>
              <a:t>redis</a:t>
            </a:r>
            <a:r>
              <a:rPr lang="ko-KR" altLang="en-US" sz="900"/>
              <a:t>에 쌓여있는 요청은 해당 로직에서 먼저 삭제됨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29~31Line : </a:t>
            </a:r>
            <a:r>
              <a:rPr lang="ko-KR" altLang="en-US" sz="900"/>
              <a:t>현재 요청을 </a:t>
            </a:r>
            <a:r>
              <a:rPr lang="en-US" altLang="ko-KR" sz="900"/>
              <a:t>Redis</a:t>
            </a:r>
            <a:r>
              <a:rPr lang="ko-KR" altLang="en-US" sz="900"/>
              <a:t>에 등록</a:t>
            </a:r>
            <a:endParaRPr lang="en-US" altLang="ko-KR" sz="900"/>
          </a:p>
          <a:p>
            <a:r>
              <a:rPr lang="en-US" altLang="ko-KR" sz="900"/>
              <a:t>33~35Line : </a:t>
            </a:r>
            <a:r>
              <a:rPr lang="ko-KR" altLang="en-US" sz="900"/>
              <a:t>현재 </a:t>
            </a:r>
            <a:r>
              <a:rPr lang="en-US" altLang="ko-KR" sz="900"/>
              <a:t>Redis</a:t>
            </a:r>
            <a:r>
              <a:rPr lang="ko-KR" altLang="en-US" sz="900"/>
              <a:t>에 </a:t>
            </a:r>
            <a:r>
              <a:rPr lang="en-US" altLang="ko-KR" sz="900"/>
              <a:t>10</a:t>
            </a:r>
            <a:r>
              <a:rPr lang="ko-KR" altLang="en-US" sz="900"/>
              <a:t>초동안 등록된 </a:t>
            </a:r>
            <a:r>
              <a:rPr lang="en-US" altLang="ko-KR" sz="900"/>
              <a:t>key</a:t>
            </a:r>
            <a:r>
              <a:rPr lang="ko-KR" altLang="en-US" sz="900"/>
              <a:t>값의 수 조회</a:t>
            </a:r>
            <a:endParaRPr lang="en-US" altLang="ko-KR" sz="900"/>
          </a:p>
          <a:p>
            <a:endParaRPr lang="en-US" altLang="ko-KR" sz="900"/>
          </a:p>
          <a:p>
            <a:r>
              <a:rPr lang="en-US" altLang="ko-KR" sz="900"/>
              <a:t>42Line : </a:t>
            </a:r>
            <a:r>
              <a:rPr lang="ko-KR" altLang="en-US" sz="900"/>
              <a:t>요청 수가 </a:t>
            </a:r>
            <a:r>
              <a:rPr lang="en-US" altLang="ko-KR" sz="900"/>
              <a:t>5 </a:t>
            </a:r>
            <a:r>
              <a:rPr lang="ko-KR" altLang="en-US" sz="900"/>
              <a:t>미만이라면 </a:t>
            </a:r>
            <a:r>
              <a:rPr lang="en-US" altLang="ko-KR" sz="900"/>
              <a:t>True </a:t>
            </a:r>
            <a:r>
              <a:rPr lang="ko-KR" altLang="en-US" sz="900"/>
              <a:t>아니라면 </a:t>
            </a:r>
            <a:r>
              <a:rPr lang="en-US" altLang="ko-KR" sz="900"/>
              <a:t>false </a:t>
            </a:r>
            <a:r>
              <a:rPr lang="ko-KR" altLang="en-US" sz="900"/>
              <a:t>반환 </a:t>
            </a:r>
            <a:br>
              <a:rPr lang="en-US" altLang="ko-KR" sz="900"/>
            </a:br>
            <a:r>
              <a:rPr lang="en-US" altLang="ko-KR" sz="900"/>
              <a:t>               </a:t>
            </a:r>
            <a:r>
              <a:rPr lang="en-US" altLang="ko-KR" sz="900">
                <a:sym typeface="Wingdings" panose="05000000000000000000" pitchFamily="2" charset="2"/>
              </a:rPr>
              <a:t> </a:t>
            </a:r>
            <a:r>
              <a:rPr lang="ko-KR" altLang="en-US" sz="900">
                <a:sym typeface="Wingdings" panose="05000000000000000000" pitchFamily="2" charset="2"/>
              </a:rPr>
              <a:t>요청에 대한 </a:t>
            </a:r>
            <a:r>
              <a:rPr lang="en-US" altLang="ko-KR" sz="900">
                <a:sym typeface="Wingdings" panose="05000000000000000000" pitchFamily="2" charset="2"/>
              </a:rPr>
              <a:t>AOP Filter[RateLimitFilter] </a:t>
            </a:r>
            <a:r>
              <a:rPr lang="ko-KR" altLang="en-US" sz="900">
                <a:sym typeface="Wingdings" panose="05000000000000000000" pitchFamily="2" charset="2"/>
              </a:rPr>
              <a:t>에서 요청 유효성 검사에 사용된다</a:t>
            </a:r>
            <a:r>
              <a:rPr lang="en-US" altLang="ko-KR" sz="900">
                <a:sym typeface="Wingdings" panose="05000000000000000000" pitchFamily="2" charset="2"/>
              </a:rPr>
              <a:t>.</a:t>
            </a:r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945745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D6D04-C462-83C5-C49C-149263B1C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요청 </a:t>
            </a:r>
            <a:r>
              <a:rPr lang="en-US" altLang="ko-KR" sz="4000"/>
              <a:t>10</a:t>
            </a:r>
            <a:r>
              <a:rPr lang="ko-KR" altLang="en-US" sz="4000"/>
              <a:t>초 제한로직 작성 </a:t>
            </a:r>
            <a:r>
              <a:rPr lang="en-US" altLang="ko-KR" sz="4000"/>
              <a:t>- </a:t>
            </a:r>
            <a:r>
              <a:rPr lang="en-US" altLang="ko-KR" sz="4000">
                <a:sym typeface="Wingdings" panose="05000000000000000000" pitchFamily="2" charset="2"/>
              </a:rPr>
              <a:t>RateLimitFilter</a:t>
            </a:r>
            <a:endParaRPr lang="ko-KR" altLang="en-US" sz="40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357554-C6A8-BB08-F0A8-949C21F04D03}"/>
              </a:ext>
            </a:extLst>
          </p:cNvPr>
          <p:cNvSpPr/>
          <p:nvPr/>
        </p:nvSpPr>
        <p:spPr>
          <a:xfrm>
            <a:off x="532356" y="3429000"/>
            <a:ext cx="1039660" cy="1377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5AD44A9-066F-2C49-752A-E204216A95BE}"/>
              </a:ext>
            </a:extLst>
          </p:cNvPr>
          <p:cNvGrpSpPr/>
          <p:nvPr/>
        </p:nvGrpSpPr>
        <p:grpSpPr>
          <a:xfrm>
            <a:off x="269092" y="1874925"/>
            <a:ext cx="2291621" cy="2239875"/>
            <a:chOff x="269092" y="1874925"/>
            <a:chExt cx="2291621" cy="223987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F8EC560-F866-6E21-7DF8-7B49149A3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9092" y="1874925"/>
              <a:ext cx="2291621" cy="2239875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EFD988F-8C8B-E5B3-1183-8D8D058B1BF9}"/>
                </a:ext>
              </a:extLst>
            </p:cNvPr>
            <p:cNvSpPr/>
            <p:nvPr/>
          </p:nvSpPr>
          <p:spPr>
            <a:xfrm>
              <a:off x="532356" y="3566786"/>
              <a:ext cx="1039660" cy="13778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64402716-699B-CAAB-F264-77AF308D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912" y="1874925"/>
            <a:ext cx="3915778" cy="40492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84259B-F667-8FCF-B45E-C7F3BB4BD68F}"/>
              </a:ext>
            </a:extLst>
          </p:cNvPr>
          <p:cNvSpPr txBox="1"/>
          <p:nvPr/>
        </p:nvSpPr>
        <p:spPr>
          <a:xfrm>
            <a:off x="6638795" y="1874925"/>
            <a:ext cx="5329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15~19Line : </a:t>
            </a:r>
            <a:r>
              <a:rPr lang="ko-KR" altLang="en-US" sz="1000"/>
              <a:t>요청에대한 제한 유효성검사를 위해 작성한 </a:t>
            </a:r>
            <a:r>
              <a:rPr lang="en-US" altLang="ko-KR" sz="1000"/>
              <a:t>RateLimiter </a:t>
            </a:r>
            <a:r>
              <a:rPr lang="ko-KR" altLang="en-US" sz="1000"/>
              <a:t>인스턴스의 의존성 주입</a:t>
            </a:r>
            <a:endParaRPr lang="en-US" altLang="ko-KR" sz="1000"/>
          </a:p>
          <a:p>
            <a:r>
              <a:rPr lang="en-US" altLang="ko-KR" sz="1000"/>
              <a:t>21~22Line : </a:t>
            </a:r>
            <a:r>
              <a:rPr lang="ko-KR" altLang="en-US" sz="1000"/>
              <a:t>각 요청마다 동작하도록 하는 </a:t>
            </a:r>
            <a:r>
              <a:rPr lang="en-US" altLang="ko-KR" sz="1000"/>
              <a:t>OncePerRequestFilter [AOP </a:t>
            </a:r>
            <a:r>
              <a:rPr lang="ko-KR" altLang="en-US" sz="1000"/>
              <a:t>동작</a:t>
            </a:r>
            <a:r>
              <a:rPr lang="en-US" altLang="ko-KR" sz="1000"/>
              <a:t>]</a:t>
            </a:r>
          </a:p>
          <a:p>
            <a:endParaRPr lang="en-US" altLang="ko-KR" sz="1000"/>
          </a:p>
          <a:p>
            <a:r>
              <a:rPr lang="en-US" altLang="ko-KR" sz="1000"/>
              <a:t>21~38Line</a:t>
            </a:r>
            <a:r>
              <a:rPr lang="ko-KR" altLang="en-US" sz="1000"/>
              <a:t>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br>
              <a:rPr lang="en-US" altLang="ko-KR" sz="1000"/>
            </a:br>
            <a:r>
              <a:rPr lang="en-US" altLang="ko-KR" sz="1000"/>
              <a:t>- HEADER</a:t>
            </a:r>
            <a:r>
              <a:rPr lang="ko-KR" altLang="en-US" sz="1000"/>
              <a:t>로 부터 </a:t>
            </a:r>
            <a:r>
              <a:rPr lang="en-US" altLang="ko-KR" sz="1000"/>
              <a:t>userId </a:t>
            </a:r>
            <a:r>
              <a:rPr lang="ko-KR" altLang="en-US" sz="1000"/>
              <a:t>추출</a:t>
            </a:r>
            <a:endParaRPr lang="en-US" altLang="ko-KR" sz="1000"/>
          </a:p>
          <a:p>
            <a:pPr marL="171450" indent="-171450">
              <a:buFontTx/>
              <a:buChar char="-"/>
            </a:pPr>
            <a:r>
              <a:rPr lang="en-US" altLang="ko-KR" sz="1000"/>
              <a:t>userId</a:t>
            </a:r>
            <a:r>
              <a:rPr lang="ko-KR" altLang="en-US" sz="1000"/>
              <a:t>가 없다면 잘못된 요청임으로 </a:t>
            </a:r>
            <a:r>
              <a:rPr lang="en-US" altLang="ko-KR" sz="1000"/>
              <a:t>return; [</a:t>
            </a:r>
            <a:r>
              <a:rPr lang="ko-KR" altLang="en-US" sz="1000"/>
              <a:t>아무런 동작 안함</a:t>
            </a:r>
            <a:r>
              <a:rPr lang="en-US" altLang="ko-KR" sz="1000"/>
              <a:t> </a:t>
            </a:r>
            <a:r>
              <a:rPr lang="ko-KR" altLang="en-US" sz="1000"/>
              <a:t>설정</a:t>
            </a:r>
            <a:r>
              <a:rPr lang="en-US" altLang="ko-KR" sz="1000"/>
              <a:t>]</a:t>
            </a:r>
          </a:p>
          <a:p>
            <a:pPr marL="171450" indent="-171450">
              <a:buFontTx/>
              <a:buChar char="-"/>
            </a:pPr>
            <a:r>
              <a:rPr lang="ko-KR" altLang="en-US" sz="1000"/>
              <a:t>조건에 대해 만족하지 못하였다면</a:t>
            </a:r>
            <a:r>
              <a:rPr lang="en-US" altLang="ko-KR" sz="1000"/>
              <a:t>, if </a:t>
            </a:r>
            <a:r>
              <a:rPr lang="ko-KR" altLang="en-US" sz="1000"/>
              <a:t>문이 동작하며</a:t>
            </a:r>
            <a:r>
              <a:rPr lang="en-US" altLang="ko-KR" sz="1000"/>
              <a:t>, 429 [</a:t>
            </a:r>
            <a:r>
              <a:rPr lang="ko-KR" altLang="en-US" sz="1000"/>
              <a:t>너무 많은 요청 코드 에러</a:t>
            </a:r>
            <a:r>
              <a:rPr lang="en-US" altLang="ko-KR" sz="1000"/>
              <a:t>] </a:t>
            </a:r>
            <a:r>
              <a:rPr lang="ko-KR" altLang="en-US" sz="1000"/>
              <a:t>발생</a:t>
            </a:r>
            <a:endParaRPr lang="en-US" altLang="ko-KR" sz="1000"/>
          </a:p>
          <a:p>
            <a:pPr marL="171450" indent="-171450">
              <a:buFontTx/>
              <a:buChar char="-"/>
            </a:pPr>
            <a:r>
              <a:rPr lang="ko-KR" altLang="en-US" sz="1000"/>
              <a:t>조건에 대해 만족</a:t>
            </a:r>
            <a:r>
              <a:rPr lang="en-US" altLang="ko-KR" sz="1000"/>
              <a:t>(5</a:t>
            </a:r>
            <a:r>
              <a:rPr lang="ko-KR" altLang="en-US" sz="1000"/>
              <a:t>번 미만의 요청</a:t>
            </a:r>
            <a:r>
              <a:rPr lang="en-US" altLang="ko-KR" sz="1000"/>
              <a:t>) </a:t>
            </a:r>
            <a:r>
              <a:rPr lang="ko-KR" altLang="en-US" sz="1000"/>
              <a:t>할 경우</a:t>
            </a:r>
            <a:r>
              <a:rPr lang="en-US" altLang="ko-KR" sz="1000"/>
              <a:t>. </a:t>
            </a:r>
            <a:r>
              <a:rPr lang="ko-KR" altLang="en-US" sz="1000"/>
              <a:t>요청과 응답 인스턴스 정상 반환</a:t>
            </a:r>
          </a:p>
        </p:txBody>
      </p:sp>
    </p:spTree>
    <p:extLst>
      <p:ext uri="{BB962C8B-B14F-4D97-AF65-F5344CB8AC3E}">
        <p14:creationId xmlns:p14="http://schemas.microsoft.com/office/powerpoint/2010/main" val="114934933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</TotalTime>
  <Words>303</Words>
  <Application>Microsoft Office PowerPoint</Application>
  <PresentationFormat>와이드스크린</PresentationFormat>
  <Paragraphs>32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Wingdings</vt:lpstr>
      <vt:lpstr>추억</vt:lpstr>
      <vt:lpstr>Redis로 API요청횟수 제한 구현하기</vt:lpstr>
      <vt:lpstr>ZSet 자료구조(ZCARD, ZREMRANGEBYSCORE, EXPIRE)</vt:lpstr>
      <vt:lpstr>PowerPoint 프레젠테이션</vt:lpstr>
      <vt:lpstr>PowerPoint 프레젠테이션</vt:lpstr>
      <vt:lpstr>PowerPoint 프레젠테이션</vt:lpstr>
      <vt:lpstr>요청 10초 제한로직 작성 - RateLimiter</vt:lpstr>
      <vt:lpstr>요청 10초 제한로직 작성 - RateLimitFilter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17</cp:revision>
  <dcterms:created xsi:type="dcterms:W3CDTF">2026-08-28T13:42:44Z</dcterms:created>
  <dcterms:modified xsi:type="dcterms:W3CDTF">2026-08-28T14:50:32Z</dcterms:modified>
</cp:coreProperties>
</file>