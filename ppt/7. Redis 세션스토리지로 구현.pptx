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  <p:sldId id="264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C8C89472-A1DF-46C8-84D3-F3DC171252EA}">
          <p14:sldIdLst>
            <p14:sldId id="256"/>
            <p14:sldId id="257"/>
            <p14:sldId id="258"/>
            <p14:sldId id="259"/>
          </p14:sldIdLst>
        </p14:section>
        <p14:section name="Local Storage Session 로그인 기능" id="{EC58FEDD-9C6A-47F6-8093-42C3434EE4B7}">
          <p14:sldIdLst>
            <p14:sldId id="260"/>
            <p14:sldId id="261"/>
            <p14:sldId id="262"/>
          </p14:sldIdLst>
        </p14:section>
        <p14:section name="Local Storage Session 문제점 확인" id="{3AC37D54-BFCF-4FDE-9126-90266707769F}">
          <p14:sldIdLst>
            <p14:sldId id="263"/>
          </p14:sldIdLst>
        </p14:section>
        <p14:section name="RedisHttpSession 사용" id="{75CA14D5-7694-437F-B911-D08FC3EF3DA1}">
          <p14:sldIdLst>
            <p14:sldId id="265"/>
            <p14:sldId id="266"/>
            <p14:sldId id="267"/>
            <p14:sldId id="264"/>
            <p14:sldId id="268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23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132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8DB93C-54AD-4C3A-8B9F-2BD610024093}" type="datetimeFigureOut">
              <a:rPr lang="ko-KR" altLang="en-US" smtClean="0"/>
              <a:t>2026-08-30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BBBD8-02F1-4748-A2B4-41F016E58E8A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2573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8DB93C-54AD-4C3A-8B9F-2BD610024093}" type="datetimeFigureOut">
              <a:rPr lang="ko-KR" altLang="en-US" smtClean="0"/>
              <a:t>2026-08-30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BBBD8-02F1-4748-A2B4-41F016E58E8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02687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8DB93C-54AD-4C3A-8B9F-2BD610024093}" type="datetimeFigureOut">
              <a:rPr lang="ko-KR" altLang="en-US" smtClean="0"/>
              <a:t>2026-08-30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BBBD8-02F1-4748-A2B4-41F016E58E8A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40752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8DB93C-54AD-4C3A-8B9F-2BD610024093}" type="datetimeFigureOut">
              <a:rPr lang="ko-KR" altLang="en-US" smtClean="0"/>
              <a:t>2026-08-30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BBBD8-02F1-4748-A2B4-41F016E58E8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76932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8DB93C-54AD-4C3A-8B9F-2BD610024093}" type="datetimeFigureOut">
              <a:rPr lang="ko-KR" altLang="en-US" smtClean="0"/>
              <a:t>2026-08-30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BBBD8-02F1-4748-A2B4-41F016E58E8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39459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8DB93C-54AD-4C3A-8B9F-2BD610024093}" type="datetimeFigureOut">
              <a:rPr lang="ko-KR" altLang="en-US" smtClean="0"/>
              <a:t>2026-08-30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BBBD8-02F1-4748-A2B4-41F016E58E8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75148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8DB93C-54AD-4C3A-8B9F-2BD610024093}" type="datetimeFigureOut">
              <a:rPr lang="ko-KR" altLang="en-US" smtClean="0"/>
              <a:t>2026-08-30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BBBD8-02F1-4748-A2B4-41F016E58E8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46451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8C8DB93C-54AD-4C3A-8B9F-2BD610024093}" type="datetimeFigureOut">
              <a:rPr lang="ko-KR" altLang="en-US" smtClean="0"/>
              <a:t>2026-08-30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92BBBD8-02F1-4748-A2B4-41F016E58E8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95850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8DB93C-54AD-4C3A-8B9F-2BD610024093}" type="datetimeFigureOut">
              <a:rPr lang="ko-KR" altLang="en-US" smtClean="0"/>
              <a:t>2026-08-30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BBBD8-02F1-4748-A2B4-41F016E58E8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14895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8DB93C-54AD-4C3A-8B9F-2BD610024093}" type="datetimeFigureOut">
              <a:rPr lang="ko-KR" altLang="en-US" smtClean="0"/>
              <a:t>2026-08-30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BBBD8-02F1-4748-A2B4-41F016E58E8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24694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8DB93C-54AD-4C3A-8B9F-2BD610024093}" type="datetimeFigureOut">
              <a:rPr lang="ko-KR" altLang="en-US" smtClean="0"/>
              <a:t>2026-08-30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BBBD8-02F1-4748-A2B4-41F016E58E8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2181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8C8DB93C-54AD-4C3A-8B9F-2BD610024093}" type="datetimeFigureOut">
              <a:rPr lang="ko-KR" altLang="en-US" smtClean="0"/>
              <a:t>2026-08-30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292BBBD8-02F1-4748-A2B4-41F016E58E8A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929703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1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0.png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5152CC-3B1A-9A47-B3AC-0186046D022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sz="6000"/>
              <a:t>Redis</a:t>
            </a:r>
            <a:r>
              <a:rPr lang="ko-KR" altLang="en-US" sz="6000"/>
              <a:t>를 세션스토리지로 구성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BEA5995-502B-ECD2-97F4-5DE65E268EB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88938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A2B66D-D950-72A2-0C15-FCF150AA1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Hash Set </a:t>
            </a:r>
            <a:r>
              <a:rPr lang="ko-KR" altLang="en-US"/>
              <a:t>자료 구조 알아보기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98DD9522-AC59-EC99-06B6-B12244434F2E}"/>
              </a:ext>
            </a:extLst>
          </p:cNvPr>
          <p:cNvGrpSpPr/>
          <p:nvPr/>
        </p:nvGrpSpPr>
        <p:grpSpPr>
          <a:xfrm>
            <a:off x="1115753" y="1973378"/>
            <a:ext cx="4290406" cy="4187277"/>
            <a:chOff x="1115753" y="1973378"/>
            <a:chExt cx="4603289" cy="4683479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63006527-2A51-9E61-695D-575849CAD1B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15753" y="1973378"/>
              <a:ext cx="2886478" cy="2486372"/>
            </a:xfrm>
            <a:prstGeom prst="rect">
              <a:avLst/>
            </a:prstGeom>
          </p:spPr>
        </p:pic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F92C0CEB-35A0-8704-02AB-4D34F785DD2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16069"/>
            <a:stretch>
              <a:fillRect/>
            </a:stretch>
          </p:blipFill>
          <p:spPr>
            <a:xfrm>
              <a:off x="1115753" y="4459748"/>
              <a:ext cx="4603289" cy="2197109"/>
            </a:xfrm>
            <a:prstGeom prst="rect">
              <a:avLst/>
            </a:prstGeom>
          </p:spPr>
        </p:pic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52933163-5FF3-3108-B570-3A3EF531ECEB}"/>
              </a:ext>
            </a:extLst>
          </p:cNvPr>
          <p:cNvSpPr txBox="1"/>
          <p:nvPr/>
        </p:nvSpPr>
        <p:spPr>
          <a:xfrm>
            <a:off x="3999345" y="1973378"/>
            <a:ext cx="760152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Hash</a:t>
            </a:r>
            <a:r>
              <a:rPr lang="ko-KR" altLang="en-US"/>
              <a:t> </a:t>
            </a:r>
            <a:r>
              <a:rPr lang="en-US" altLang="ko-KR"/>
              <a:t>Set</a:t>
            </a:r>
            <a:r>
              <a:rPr lang="ko-KR" altLang="en-US"/>
              <a:t> 저장</a:t>
            </a:r>
            <a:endParaRPr lang="en-US" altLang="ko-KR"/>
          </a:p>
          <a:p>
            <a:r>
              <a:rPr lang="en-US" altLang="ko-KR" sz="1200"/>
              <a:t>HSET {key} {hashKey} {value} </a:t>
            </a:r>
          </a:p>
          <a:p>
            <a:r>
              <a:rPr lang="en-US" altLang="ko-KR"/>
              <a:t>Hash Set </a:t>
            </a:r>
            <a:r>
              <a:rPr lang="ko-KR" altLang="en-US"/>
              <a:t>전체 확인</a:t>
            </a:r>
            <a:endParaRPr lang="en-US" altLang="ko-KR"/>
          </a:p>
          <a:p>
            <a:r>
              <a:rPr lang="en-US" altLang="ko-KR" sz="1200"/>
              <a:t>HGETALL {key}</a:t>
            </a:r>
          </a:p>
          <a:p>
            <a:r>
              <a:rPr lang="en-US" altLang="ko-KR"/>
              <a:t>Hash Set </a:t>
            </a:r>
            <a:r>
              <a:rPr lang="ko-KR" altLang="en-US"/>
              <a:t>단일 </a:t>
            </a:r>
            <a:r>
              <a:rPr lang="en-US" altLang="ko-KR"/>
              <a:t>HashKey </a:t>
            </a:r>
            <a:r>
              <a:rPr lang="ko-KR" altLang="en-US"/>
              <a:t>의 </a:t>
            </a:r>
            <a:r>
              <a:rPr lang="en-US" altLang="ko-KR"/>
              <a:t>Value </a:t>
            </a:r>
            <a:r>
              <a:rPr lang="ko-KR" altLang="en-US"/>
              <a:t>확인</a:t>
            </a:r>
            <a:endParaRPr lang="en-US" altLang="ko-KR"/>
          </a:p>
          <a:p>
            <a:r>
              <a:rPr lang="en-US" altLang="ko-KR" sz="1200"/>
              <a:t>HGET {key} {hasKey}</a:t>
            </a:r>
            <a:endParaRPr lang="en-US" altLang="ko-KR"/>
          </a:p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20692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A90F33-8102-8F3E-732C-022618BC04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4000"/>
              <a:t>서버 </a:t>
            </a:r>
            <a:r>
              <a:rPr lang="en-US" altLang="ko-KR" sz="4000"/>
              <a:t>2</a:t>
            </a:r>
            <a:r>
              <a:rPr lang="ko-KR" altLang="en-US" sz="4000"/>
              <a:t>대 이상일 경우세션 스토리지의 필요성</a:t>
            </a: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DF8E3632-BA99-D5D7-5F0E-45E263432E0D}"/>
              </a:ext>
            </a:extLst>
          </p:cNvPr>
          <p:cNvGrpSpPr/>
          <p:nvPr/>
        </p:nvGrpSpPr>
        <p:grpSpPr>
          <a:xfrm>
            <a:off x="2796932" y="1737360"/>
            <a:ext cx="6598135" cy="5002599"/>
            <a:chOff x="2796932" y="1737360"/>
            <a:chExt cx="6598135" cy="5002599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508CBCE4-5CFB-CBB8-2D57-86A9EC3B68D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796932" y="1737360"/>
              <a:ext cx="6598135" cy="5002599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3A81AAF7-1556-AF63-1C44-4B2E41D6D939}"/>
                </a:ext>
              </a:extLst>
            </p:cNvPr>
            <p:cNvSpPr/>
            <p:nvPr/>
          </p:nvSpPr>
          <p:spPr>
            <a:xfrm>
              <a:off x="2796932" y="2678545"/>
              <a:ext cx="2864959" cy="138546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CA25D8D4-50FF-067B-36E9-7A403F531EE1}"/>
                </a:ext>
              </a:extLst>
            </p:cNvPr>
            <p:cNvSpPr/>
            <p:nvPr/>
          </p:nvSpPr>
          <p:spPr>
            <a:xfrm>
              <a:off x="6216074" y="2447636"/>
              <a:ext cx="3089564" cy="230909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0074D0A6-0D69-9B2A-6745-7FAA43391C89}"/>
                </a:ext>
              </a:extLst>
            </p:cNvPr>
            <p:cNvCxnSpPr/>
            <p:nvPr/>
          </p:nvCxnSpPr>
          <p:spPr>
            <a:xfrm>
              <a:off x="3454400" y="2983345"/>
              <a:ext cx="3999345" cy="0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916523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BF4D2F-C302-ACDF-BEC6-711ACD513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세션 로그인 인증 순서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C753086A-7853-57C2-E5C7-B8E2656355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886854"/>
            <a:ext cx="7158938" cy="210246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4354101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DE7F85-7F37-7006-11E8-3E1AAC67F3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000"/>
              <a:t>LocalSessionStorage </a:t>
            </a:r>
            <a:r>
              <a:rPr lang="ko-KR" altLang="en-US" sz="4000"/>
              <a:t>로그인 </a:t>
            </a:r>
            <a:r>
              <a:rPr lang="en-US" altLang="ko-KR" sz="4000"/>
              <a:t>-Controller</a:t>
            </a:r>
            <a:endParaRPr lang="ko-KR" altLang="en-US" sz="4000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FE92C7F9-D499-D337-D6CC-FB57BEA60D53}"/>
              </a:ext>
            </a:extLst>
          </p:cNvPr>
          <p:cNvGrpSpPr/>
          <p:nvPr/>
        </p:nvGrpSpPr>
        <p:grpSpPr>
          <a:xfrm>
            <a:off x="350257" y="1865202"/>
            <a:ext cx="2991267" cy="1267002"/>
            <a:chOff x="350257" y="1865202"/>
            <a:chExt cx="2991267" cy="1267002"/>
          </a:xfrm>
        </p:grpSpPr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F568A32E-9C5B-7261-85A9-DEB04E704AE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50257" y="1865202"/>
              <a:ext cx="2991267" cy="1267002"/>
            </a:xfrm>
            <a:prstGeom prst="rect">
              <a:avLst/>
            </a:prstGeom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8E180094-CC79-DF5F-8AE0-E79CDF0F48E2}"/>
                </a:ext>
              </a:extLst>
            </p:cNvPr>
            <p:cNvSpPr/>
            <p:nvPr/>
          </p:nvSpPr>
          <p:spPr>
            <a:xfrm>
              <a:off x="623843" y="2726109"/>
              <a:ext cx="1982625" cy="230736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14" name="그림 13">
            <a:extLst>
              <a:ext uri="{FF2B5EF4-FFF2-40B4-BE49-F238E27FC236}">
                <a16:creationId xmlns:a16="http://schemas.microsoft.com/office/drawing/2014/main" id="{FBBAF3CA-DDE1-C71F-BEA8-CB08D6FA21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5505" y="1865202"/>
            <a:ext cx="6554233" cy="4296316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A7217308-4262-271F-6617-EBA5393FEB17}"/>
              </a:ext>
            </a:extLst>
          </p:cNvPr>
          <p:cNvSpPr txBox="1"/>
          <p:nvPr/>
        </p:nvSpPr>
        <p:spPr>
          <a:xfrm>
            <a:off x="350257" y="3332860"/>
            <a:ext cx="2991267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/>
              <a:t>login </a:t>
            </a:r>
            <a:r>
              <a:rPr lang="ko-KR" altLang="en-US" sz="1100"/>
              <a:t>메소드 동작 </a:t>
            </a:r>
            <a:endParaRPr lang="en-US" altLang="ko-KR" sz="1100"/>
          </a:p>
          <a:p>
            <a:pPr marL="285750" indent="-285750">
              <a:buFontTx/>
              <a:buChar char="-"/>
            </a:pPr>
            <a:r>
              <a:rPr lang="ko-KR" altLang="en-US" sz="1100"/>
              <a:t>로그인 정보를 전달받는다</a:t>
            </a:r>
            <a:endParaRPr lang="en-US" altLang="ko-KR" sz="1100"/>
          </a:p>
          <a:p>
            <a:pPr marL="285750" indent="-285750">
              <a:buFontTx/>
              <a:buChar char="-"/>
            </a:pPr>
            <a:r>
              <a:rPr lang="en-US" altLang="ko-KR" sz="1100"/>
              <a:t>DB</a:t>
            </a:r>
            <a:r>
              <a:rPr lang="ko-KR" altLang="en-US" sz="1100"/>
              <a:t>에서 로그인 정보를 통해 정보가 존재하는지 확인 및 입력 </a:t>
            </a:r>
            <a:r>
              <a:rPr lang="en-US" altLang="ko-KR" sz="1100"/>
              <a:t>Password</a:t>
            </a:r>
            <a:r>
              <a:rPr lang="ko-KR" altLang="en-US" sz="1100"/>
              <a:t>가 일치하는지 확인한다</a:t>
            </a:r>
            <a:r>
              <a:rPr lang="en-US" altLang="ko-KR" sz="1100"/>
              <a:t>.</a:t>
            </a:r>
          </a:p>
          <a:p>
            <a:pPr marL="171450" indent="-171450">
              <a:buFontTx/>
              <a:buChar char="-"/>
            </a:pPr>
            <a:r>
              <a:rPr lang="en-US" altLang="ko-KR" sz="1100"/>
              <a:t>HttpSession</a:t>
            </a:r>
            <a:r>
              <a:rPr lang="ko-KR" altLang="en-US" sz="1100"/>
              <a:t>에 민감하지 않는 사용자 정보를 저장한다</a:t>
            </a:r>
            <a:r>
              <a:rPr lang="en-US" altLang="ko-KR" sz="1100"/>
              <a:t>.(</a:t>
            </a:r>
            <a:r>
              <a:rPr lang="ko-KR" altLang="en-US" sz="1100"/>
              <a:t>패스워드 제외</a:t>
            </a:r>
            <a:r>
              <a:rPr lang="en-US" altLang="ko-KR" sz="1100"/>
              <a:t>)</a:t>
            </a:r>
          </a:p>
          <a:p>
            <a:pPr marL="171450" indent="-171450">
              <a:buFontTx/>
              <a:buChar char="-"/>
            </a:pPr>
            <a:r>
              <a:rPr lang="ko-KR" altLang="en-US" sz="1100"/>
              <a:t>로그인 성공 </a:t>
            </a:r>
            <a:r>
              <a:rPr lang="en-US" altLang="ko-KR" sz="1100"/>
              <a:t>/ </a:t>
            </a:r>
            <a:r>
              <a:rPr lang="ko-KR" altLang="en-US" sz="1100"/>
              <a:t>실패 여부를 반환한다</a:t>
            </a:r>
            <a:r>
              <a:rPr lang="en-US" altLang="ko-KR" sz="1100"/>
              <a:t>.</a:t>
            </a:r>
            <a:endParaRPr lang="ko-KR" altLang="en-US" sz="1100"/>
          </a:p>
        </p:txBody>
      </p:sp>
    </p:spTree>
    <p:extLst>
      <p:ext uri="{BB962C8B-B14F-4D97-AF65-F5344CB8AC3E}">
        <p14:creationId xmlns:p14="http://schemas.microsoft.com/office/powerpoint/2010/main" val="31191127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B699FB-448F-6655-1805-FB555B3EF9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D4ED82-F2BD-5C88-A82A-D73DED9A8B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000"/>
              <a:t>LocalSessionStorage </a:t>
            </a:r>
            <a:r>
              <a:rPr lang="ko-KR" altLang="en-US" sz="4000"/>
              <a:t>로그아웃 </a:t>
            </a:r>
            <a:r>
              <a:rPr lang="en-US" altLang="ko-KR" sz="4000"/>
              <a:t>-Controller</a:t>
            </a:r>
            <a:endParaRPr lang="ko-KR" altLang="en-US" sz="4000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F7938BF5-C907-30E5-C1E5-E19398398D10}"/>
              </a:ext>
            </a:extLst>
          </p:cNvPr>
          <p:cNvGrpSpPr/>
          <p:nvPr/>
        </p:nvGrpSpPr>
        <p:grpSpPr>
          <a:xfrm>
            <a:off x="350257" y="1865202"/>
            <a:ext cx="2991267" cy="1267002"/>
            <a:chOff x="350257" y="1865202"/>
            <a:chExt cx="2991267" cy="1267002"/>
          </a:xfrm>
        </p:grpSpPr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41AD0FB7-6C55-7866-831B-D5B7F0F9E21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50257" y="1865202"/>
              <a:ext cx="2991267" cy="1267002"/>
            </a:xfrm>
            <a:prstGeom prst="rect">
              <a:avLst/>
            </a:prstGeom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F4F719DE-2BA6-944F-7F7F-96ED1CE08C00}"/>
                </a:ext>
              </a:extLst>
            </p:cNvPr>
            <p:cNvSpPr/>
            <p:nvPr/>
          </p:nvSpPr>
          <p:spPr>
            <a:xfrm>
              <a:off x="623843" y="2726109"/>
              <a:ext cx="1982625" cy="230736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4" name="그림 3">
            <a:extLst>
              <a:ext uri="{FF2B5EF4-FFF2-40B4-BE49-F238E27FC236}">
                <a16:creationId xmlns:a16="http://schemas.microsoft.com/office/drawing/2014/main" id="{77F58CA8-1BFE-FD80-ACC8-162474C4C6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7966" y="1865202"/>
            <a:ext cx="4153480" cy="1190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95121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E7C4A8-8826-D4E3-D57E-18E1D6A165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F5895E-7DF1-3A57-1DA6-371D2CB15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000"/>
              <a:t>LocalSessionStorage </a:t>
            </a:r>
            <a:r>
              <a:rPr lang="ko-KR" altLang="en-US" sz="4000"/>
              <a:t>인증 정보 조회 </a:t>
            </a:r>
            <a:r>
              <a:rPr lang="en-US" altLang="ko-KR" sz="4000"/>
              <a:t>-Controller</a:t>
            </a:r>
            <a:endParaRPr lang="ko-KR" altLang="en-US" sz="4000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0BAD9049-7D95-2347-A1E6-D2F7FC1B8EB5}"/>
              </a:ext>
            </a:extLst>
          </p:cNvPr>
          <p:cNvGrpSpPr/>
          <p:nvPr/>
        </p:nvGrpSpPr>
        <p:grpSpPr>
          <a:xfrm>
            <a:off x="350257" y="1865202"/>
            <a:ext cx="2991267" cy="1267002"/>
            <a:chOff x="350257" y="1865202"/>
            <a:chExt cx="2991267" cy="1267002"/>
          </a:xfrm>
        </p:grpSpPr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374E6C9B-ABDF-8DCE-31DF-6CAE8FF4925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50257" y="1865202"/>
              <a:ext cx="2991267" cy="1267002"/>
            </a:xfrm>
            <a:prstGeom prst="rect">
              <a:avLst/>
            </a:prstGeom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23A3F240-1967-0D3E-A181-A571710DFC32}"/>
                </a:ext>
              </a:extLst>
            </p:cNvPr>
            <p:cNvSpPr/>
            <p:nvPr/>
          </p:nvSpPr>
          <p:spPr>
            <a:xfrm>
              <a:off x="623843" y="2726109"/>
              <a:ext cx="1982625" cy="230736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6" name="그림 5">
            <a:extLst>
              <a:ext uri="{FF2B5EF4-FFF2-40B4-BE49-F238E27FC236}">
                <a16:creationId xmlns:a16="http://schemas.microsoft.com/office/drawing/2014/main" id="{873B98AC-AA4C-6521-26E5-CDDD806BA7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5947" y="1865202"/>
            <a:ext cx="5468113" cy="2581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28911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1CAC6B-6563-19E1-ED4F-705F7E1417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200"/>
              <a:t>LocalSession Storage</a:t>
            </a:r>
            <a:r>
              <a:rPr lang="ko-KR" altLang="en-US" sz="3200"/>
              <a:t>로 인한 로그인 인증 불일치 문제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EAF3B12-70C2-0B1D-2F0A-A2B5257BDF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876902"/>
            <a:ext cx="3238952" cy="2095792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6FD8D0E5-EDD4-0BA2-941D-9860B64138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4112236"/>
            <a:ext cx="2581635" cy="371527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D4C899AF-040C-3694-6359-4F271CA9DB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5770" y="1940233"/>
            <a:ext cx="4039164" cy="4344006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DDC34407-62CF-BAA9-CCF6-01625D1409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7504" y="1940233"/>
            <a:ext cx="3057952" cy="434400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D0CB97F-34C9-F44D-E57D-5B8BB3E29F39}"/>
              </a:ext>
            </a:extLst>
          </p:cNvPr>
          <p:cNvSpPr txBox="1"/>
          <p:nvPr/>
        </p:nvSpPr>
        <p:spPr>
          <a:xfrm>
            <a:off x="102550" y="4725824"/>
            <a:ext cx="435835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/>
              <a:t>8080/auth/me</a:t>
            </a:r>
            <a:r>
              <a:rPr lang="ko-KR" altLang="en-US" sz="1200"/>
              <a:t> 에서의 로그인 인증이</a:t>
            </a:r>
            <a:br>
              <a:rPr lang="en-US" altLang="ko-KR" sz="1200"/>
            </a:br>
            <a:r>
              <a:rPr lang="en-US" altLang="ko-KR" sz="1200"/>
              <a:t>8081/auth/me</a:t>
            </a:r>
            <a:r>
              <a:rPr lang="ko-KR" altLang="en-US" sz="1200"/>
              <a:t> 에서의 로그인 인증을 보장하지 못한다</a:t>
            </a:r>
            <a:r>
              <a:rPr lang="en-US" altLang="ko-KR" sz="1200"/>
              <a:t>.</a:t>
            </a:r>
          </a:p>
          <a:p>
            <a:endParaRPr lang="en-US" altLang="ko-KR" sz="1200"/>
          </a:p>
          <a:p>
            <a:r>
              <a:rPr lang="ko-KR" altLang="en-US" sz="1200"/>
              <a:t>두 서버는 세션을 공유하지 않기 때문에 발생하는 문제이다</a:t>
            </a:r>
            <a:r>
              <a:rPr lang="en-US" altLang="ko-KR" sz="1200"/>
              <a:t>.</a:t>
            </a:r>
            <a:endParaRPr lang="ko-KR" altLang="en-US" sz="1200"/>
          </a:p>
        </p:txBody>
      </p:sp>
    </p:spTree>
    <p:extLst>
      <p:ext uri="{BB962C8B-B14F-4D97-AF65-F5344CB8AC3E}">
        <p14:creationId xmlns:p14="http://schemas.microsoft.com/office/powerpoint/2010/main" val="18033585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196FA1C-70DF-8594-5500-AC3820863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000"/>
              <a:t>RedisHttpSession</a:t>
            </a:r>
            <a:r>
              <a:rPr lang="ko-KR" altLang="en-US" sz="4000"/>
              <a:t>을 사용하기 위해 의존성 추가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C4A1A951-7116-C039-84D4-7C57EA3586CA}"/>
              </a:ext>
            </a:extLst>
          </p:cNvPr>
          <p:cNvGrpSpPr/>
          <p:nvPr/>
        </p:nvGrpSpPr>
        <p:grpSpPr>
          <a:xfrm>
            <a:off x="358435" y="1928886"/>
            <a:ext cx="2290761" cy="3410426"/>
            <a:chOff x="358435" y="1928886"/>
            <a:chExt cx="2290761" cy="3410426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ABFAB369-98AC-8C07-9B8B-E7E50959B22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2248" t="752" r="37485" b="-752"/>
            <a:stretch>
              <a:fillRect/>
            </a:stretch>
          </p:blipFill>
          <p:spPr>
            <a:xfrm>
              <a:off x="358435" y="1928886"/>
              <a:ext cx="2290761" cy="3410426"/>
            </a:xfrm>
            <a:prstGeom prst="rect">
              <a:avLst/>
            </a:prstGeom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7EBE65A1-2ECE-E8BE-1B77-FAB661DD3350}"/>
                </a:ext>
              </a:extLst>
            </p:cNvPr>
            <p:cNvSpPr/>
            <p:nvPr/>
          </p:nvSpPr>
          <p:spPr>
            <a:xfrm>
              <a:off x="392862" y="4366902"/>
              <a:ext cx="1110953" cy="205099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5BEAC54E-596B-384E-C429-77CEA23AE3FC}"/>
              </a:ext>
            </a:extLst>
          </p:cNvPr>
          <p:cNvSpPr txBox="1"/>
          <p:nvPr/>
        </p:nvSpPr>
        <p:spPr>
          <a:xfrm>
            <a:off x="2845750" y="4269366"/>
            <a:ext cx="78706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/>
              <a:t>springframework </a:t>
            </a:r>
            <a:r>
              <a:rPr lang="ko-KR" altLang="en-US" sz="1200"/>
              <a:t>에서 지원하는 </a:t>
            </a:r>
            <a:r>
              <a:rPr lang="en-US" altLang="ko-KR" sz="1200"/>
              <a:t>Redis </a:t>
            </a:r>
            <a:r>
              <a:rPr lang="ko-KR" altLang="en-US" sz="1200"/>
              <a:t>세션 스토리지 의존성 패키지가 존재한다</a:t>
            </a: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281C3615-CCE2-D5D8-617D-8515A9FBA64A}"/>
              </a:ext>
            </a:extLst>
          </p:cNvPr>
          <p:cNvGrpSpPr/>
          <p:nvPr/>
        </p:nvGrpSpPr>
        <p:grpSpPr>
          <a:xfrm>
            <a:off x="2780837" y="1948114"/>
            <a:ext cx="6630325" cy="2257740"/>
            <a:chOff x="2780837" y="1948114"/>
            <a:chExt cx="6630325" cy="2257740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1504BC8C-5678-8C12-1DE1-AD434249A3B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780837" y="1948114"/>
              <a:ext cx="6630325" cy="2257740"/>
            </a:xfrm>
            <a:prstGeom prst="rect">
              <a:avLst/>
            </a:prstGeom>
          </p:spPr>
        </p:pic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D5FC7799-D6F8-7EFA-5996-9EA7C83FDB3D}"/>
                </a:ext>
              </a:extLst>
            </p:cNvPr>
            <p:cNvSpPr/>
            <p:nvPr/>
          </p:nvSpPr>
          <p:spPr>
            <a:xfrm>
              <a:off x="3520867" y="2726108"/>
              <a:ext cx="5195843" cy="188008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5890299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D0FAE3-9D1B-270F-7BE9-F1F59661C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600"/>
              <a:t>RedisHttpSession</a:t>
            </a:r>
            <a:r>
              <a:rPr lang="ko-KR" altLang="en-US" sz="3600"/>
              <a:t> 설정 추가 </a:t>
            </a:r>
            <a:r>
              <a:rPr lang="en-US" altLang="ko-KR" sz="3600"/>
              <a:t>- application.yml</a:t>
            </a:r>
            <a:endParaRPr lang="ko-KR" altLang="en-US" sz="3600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410C6BFE-8BE6-FA86-D758-3A718FF84F9F}"/>
              </a:ext>
            </a:extLst>
          </p:cNvPr>
          <p:cNvGrpSpPr/>
          <p:nvPr/>
        </p:nvGrpSpPr>
        <p:grpSpPr>
          <a:xfrm>
            <a:off x="1097280" y="1876913"/>
            <a:ext cx="2646807" cy="4247961"/>
            <a:chOff x="1097280" y="1876913"/>
            <a:chExt cx="2646807" cy="4247961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12D19FFD-18E5-C169-2D12-9D91DC78B85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97280" y="1876913"/>
              <a:ext cx="2646807" cy="4247961"/>
            </a:xfrm>
            <a:prstGeom prst="rect">
              <a:avLst/>
            </a:prstGeom>
          </p:spPr>
        </p:pic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CD1A3C28-EC08-8729-58F7-64460CC41888}"/>
                </a:ext>
              </a:extLst>
            </p:cNvPr>
            <p:cNvSpPr/>
            <p:nvPr/>
          </p:nvSpPr>
          <p:spPr>
            <a:xfrm>
              <a:off x="1427148" y="5836778"/>
              <a:ext cx="991312" cy="282011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70965BD5-B789-699B-C84E-DB04A84AE519}"/>
              </a:ext>
            </a:extLst>
          </p:cNvPr>
          <p:cNvGrpSpPr/>
          <p:nvPr/>
        </p:nvGrpSpPr>
        <p:grpSpPr>
          <a:xfrm>
            <a:off x="4035247" y="1876913"/>
            <a:ext cx="6582694" cy="3839111"/>
            <a:chOff x="4035247" y="1876913"/>
            <a:chExt cx="6582694" cy="3839111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DC1B981E-3FDF-4FD8-F106-AB03480DF84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035247" y="1876913"/>
              <a:ext cx="6582694" cy="3839111"/>
            </a:xfrm>
            <a:prstGeom prst="rect">
              <a:avLst/>
            </a:prstGeom>
          </p:spPr>
        </p:pic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33E9338F-71F9-9AA1-55AA-BA9B2513B1C1}"/>
                </a:ext>
              </a:extLst>
            </p:cNvPr>
            <p:cNvSpPr/>
            <p:nvPr/>
          </p:nvSpPr>
          <p:spPr>
            <a:xfrm>
              <a:off x="4818403" y="5237148"/>
              <a:ext cx="1556759" cy="33471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7424480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346C20-2492-9BBD-2B16-B085D6DD4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600"/>
              <a:t>RedisHttpSession </a:t>
            </a:r>
            <a:r>
              <a:rPr lang="ko-KR" altLang="en-US" sz="3600"/>
              <a:t>설정 파일 추가 </a:t>
            </a:r>
            <a:r>
              <a:rPr lang="en-US" altLang="ko-KR" sz="3600"/>
              <a:t>- @Configuration </a:t>
            </a:r>
            <a:endParaRPr lang="ko-KR" altLang="en-US" sz="3600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B15FED1F-F1A8-E0ED-0DA7-90834680152D}"/>
              </a:ext>
            </a:extLst>
          </p:cNvPr>
          <p:cNvGrpSpPr/>
          <p:nvPr/>
        </p:nvGrpSpPr>
        <p:grpSpPr>
          <a:xfrm>
            <a:off x="602755" y="1876208"/>
            <a:ext cx="3038899" cy="3105583"/>
            <a:chOff x="602755" y="1876208"/>
            <a:chExt cx="3038899" cy="3105583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7B2D6362-496C-3829-04A6-4B929B54906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2755" y="1876208"/>
              <a:ext cx="3038899" cy="3105583"/>
            </a:xfrm>
            <a:prstGeom prst="rect">
              <a:avLst/>
            </a:prstGeom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6A24D177-1E36-9EC4-2ACC-451FA2E3C314}"/>
                </a:ext>
              </a:extLst>
            </p:cNvPr>
            <p:cNvSpPr/>
            <p:nvPr/>
          </p:nvSpPr>
          <p:spPr>
            <a:xfrm>
              <a:off x="1016950" y="4683095"/>
              <a:ext cx="1632246" cy="298696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8" name="그림 7">
            <a:extLst>
              <a:ext uri="{FF2B5EF4-FFF2-40B4-BE49-F238E27FC236}">
                <a16:creationId xmlns:a16="http://schemas.microsoft.com/office/drawing/2014/main" id="{952CFD0F-586A-C7C6-54AB-1D3BD428ED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8589" y="1876208"/>
            <a:ext cx="3019846" cy="1171739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3FF6D6FF-D9D8-3CAD-03CF-8A5E2240204A}"/>
              </a:ext>
            </a:extLst>
          </p:cNvPr>
          <p:cNvSpPr/>
          <p:nvPr/>
        </p:nvSpPr>
        <p:spPr>
          <a:xfrm>
            <a:off x="4134740" y="1972654"/>
            <a:ext cx="1961259" cy="35180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F536FA-55A3-D2F7-988A-44E7CBDC7BEC}"/>
              </a:ext>
            </a:extLst>
          </p:cNvPr>
          <p:cNvSpPr txBox="1"/>
          <p:nvPr/>
        </p:nvSpPr>
        <p:spPr>
          <a:xfrm>
            <a:off x="3748589" y="3264493"/>
            <a:ext cx="74264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/>
              <a:t>@Configuration </a:t>
            </a:r>
            <a:r>
              <a:rPr lang="ko-KR" altLang="en-US" sz="1200"/>
              <a:t>과 </a:t>
            </a:r>
            <a:r>
              <a:rPr lang="en-US" altLang="ko-KR" sz="1200"/>
              <a:t>@EnableRedisHttpSession </a:t>
            </a:r>
            <a:r>
              <a:rPr lang="ko-KR" altLang="en-US" sz="1200"/>
              <a:t>애노테이션 선언만해주면 </a:t>
            </a:r>
            <a:endParaRPr lang="en-US" altLang="ko-KR" sz="1200"/>
          </a:p>
          <a:p>
            <a:r>
              <a:rPr lang="en-US" altLang="ko-KR" sz="1200"/>
              <a:t>RedisHttpSession Storage</a:t>
            </a:r>
            <a:r>
              <a:rPr lang="ko-KR" altLang="en-US" sz="1200"/>
              <a:t>가 동작한다</a:t>
            </a:r>
            <a:r>
              <a:rPr lang="en-US" altLang="ko-KR" sz="1200"/>
              <a:t>.</a:t>
            </a:r>
            <a:endParaRPr lang="ko-KR" altLang="en-US" sz="1200"/>
          </a:p>
        </p:txBody>
      </p:sp>
    </p:spTree>
    <p:extLst>
      <p:ext uri="{BB962C8B-B14F-4D97-AF65-F5344CB8AC3E}">
        <p14:creationId xmlns:p14="http://schemas.microsoft.com/office/powerpoint/2010/main" val="657156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264366-2E18-50B2-DB2A-C398376D62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2AFC24-262D-FCCC-10F9-2955B65F29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200"/>
              <a:t>Redis Session Storage</a:t>
            </a:r>
            <a:r>
              <a:rPr lang="ko-KR" altLang="en-US" sz="3200"/>
              <a:t> 로그인 인증 확인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94AA8F0-7DDE-B3BC-13CB-D814D39BEF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876902"/>
            <a:ext cx="3238952" cy="2095792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E9063F0F-3013-87F9-1323-0101F4339D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4112236"/>
            <a:ext cx="2581635" cy="371527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EE445185-7BC5-3E40-9579-4576DCCB0C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3145" y="1940233"/>
            <a:ext cx="3057952" cy="434400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9110760-7323-4A7B-43E6-DA24963C30F3}"/>
              </a:ext>
            </a:extLst>
          </p:cNvPr>
          <p:cNvSpPr txBox="1"/>
          <p:nvPr/>
        </p:nvSpPr>
        <p:spPr>
          <a:xfrm>
            <a:off x="102550" y="4725824"/>
            <a:ext cx="43583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/>
              <a:t>8080/auth/me</a:t>
            </a:r>
            <a:r>
              <a:rPr lang="ko-KR" altLang="en-US" sz="1200"/>
              <a:t> 에서의 로그인 인증 조회가</a:t>
            </a:r>
            <a:br>
              <a:rPr lang="en-US" altLang="ko-KR" sz="1200"/>
            </a:br>
            <a:r>
              <a:rPr lang="en-US" altLang="ko-KR" sz="1200"/>
              <a:t>8081/auth/me</a:t>
            </a:r>
            <a:r>
              <a:rPr lang="ko-KR" altLang="en-US" sz="1200"/>
              <a:t> 에서의 로그인 인증 조회와 동일한 결과를 </a:t>
            </a:r>
            <a:br>
              <a:rPr lang="en-US" altLang="ko-KR" sz="1200"/>
            </a:br>
            <a:r>
              <a:rPr lang="ko-KR" altLang="en-US" sz="1200"/>
              <a:t>반환하는걸 확인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6CC9AADE-5C29-E2A6-BDD3-49BFD6EB4B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16728" y="1940233"/>
            <a:ext cx="3376131" cy="4344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45689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E4C5D8-2001-C1AB-89F8-92A065499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Redis-cli </a:t>
            </a:r>
            <a:r>
              <a:rPr lang="ko-KR" altLang="en-US"/>
              <a:t>확인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3E0E084-1E8D-B9D8-9387-CF72183F7A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582" y="2000042"/>
            <a:ext cx="4877481" cy="1695687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3AB0507E-A2E2-1442-B6F2-CF2EC8870A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582" y="3853013"/>
            <a:ext cx="11453302" cy="141335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8D6C822-5673-0D09-313C-0417E4FB96C5}"/>
              </a:ext>
            </a:extLst>
          </p:cNvPr>
          <p:cNvSpPr txBox="1"/>
          <p:nvPr/>
        </p:nvSpPr>
        <p:spPr>
          <a:xfrm>
            <a:off x="5358213" y="2000042"/>
            <a:ext cx="62897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RedisHttpSession</a:t>
            </a:r>
            <a:r>
              <a:rPr lang="ko-KR" altLang="en-US"/>
              <a:t>은 </a:t>
            </a:r>
            <a:r>
              <a:rPr lang="en-US" altLang="ko-KR"/>
              <a:t>HashMap </a:t>
            </a:r>
            <a:r>
              <a:rPr lang="ko-KR" altLang="en-US"/>
              <a:t>자료구조로 값을 저장하는걸 </a:t>
            </a:r>
            <a:br>
              <a:rPr lang="en-US" altLang="ko-KR"/>
            </a:br>
            <a:r>
              <a:rPr lang="ko-KR" altLang="en-US"/>
              <a:t>알 수 있다</a:t>
            </a:r>
            <a:r>
              <a:rPr lang="en-US" altLang="ko-KR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1831153"/>
      </p:ext>
    </p:extLst>
  </p:cSld>
  <p:clrMapOvr>
    <a:masterClrMapping/>
  </p:clrMapOvr>
</p:sld>
</file>

<file path=ppt/theme/theme1.xml><?xml version="1.0" encoding="utf-8"?>
<a:theme xmlns:a="http://schemas.openxmlformats.org/drawingml/2006/main" name="추억">
  <a:themeElements>
    <a:clrScheme name="추억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추억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추억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111</TotalTime>
  <Words>229</Words>
  <Application>Microsoft Office PowerPoint</Application>
  <PresentationFormat>와이드스크린</PresentationFormat>
  <Paragraphs>32</Paragraphs>
  <Slides>13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6" baseType="lpstr">
      <vt:lpstr>Calibri</vt:lpstr>
      <vt:lpstr>Calibri Light</vt:lpstr>
      <vt:lpstr>추억</vt:lpstr>
      <vt:lpstr>Redis를 세션스토리지로 구성</vt:lpstr>
      <vt:lpstr>Hash Set 자료 구조 알아보기</vt:lpstr>
      <vt:lpstr>서버 2대 이상일 경우세션 스토리지의 필요성</vt:lpstr>
      <vt:lpstr>세션 로그인 인증 순서</vt:lpstr>
      <vt:lpstr>LocalSessionStorage 로그인 -Controller</vt:lpstr>
      <vt:lpstr>LocalSessionStorage 로그아웃 -Controller</vt:lpstr>
      <vt:lpstr>LocalSessionStorage 인증 정보 조회 -Controller</vt:lpstr>
      <vt:lpstr>LocalSession Storage로 인한 로그인 인증 불일치 문제</vt:lpstr>
      <vt:lpstr>RedisHttpSession을 사용하기 위해 의존성 추가</vt:lpstr>
      <vt:lpstr>RedisHttpSession 설정 추가 - application.yml</vt:lpstr>
      <vt:lpstr>RedisHttpSession 설정 파일 추가 - @Configuration </vt:lpstr>
      <vt:lpstr>Redis Session Storage 로그인 인증 확인</vt:lpstr>
      <vt:lpstr>Redis-cli 확인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khb</dc:creator>
  <cp:lastModifiedBy>khb</cp:lastModifiedBy>
  <cp:revision>17</cp:revision>
  <dcterms:created xsi:type="dcterms:W3CDTF">2026-08-30T05:48:44Z</dcterms:created>
  <dcterms:modified xsi:type="dcterms:W3CDTF">2026-08-30T07:40:41Z</dcterms:modified>
</cp:coreProperties>
</file>